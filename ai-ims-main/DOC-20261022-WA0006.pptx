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hyperlink" Target="https://ai-ims-nine.vercel.app/" TargetMode="Externa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82880" cy="5143500"/>
          </a:xfrm>
          <a:prstGeom prst="rect">
            <a:avLst/>
          </a:prstGeom>
          <a:solidFill>
            <a:srgbClr val="444444"/>
          </a:solidFill>
          <a:ln w="12700">
            <a:solidFill>
              <a:srgbClr val="444444"/>
            </a:solidFill>
            <a:prstDash val="solid"/>
          </a:ln>
        </p:spPr>
      </p:sp>
      <p:sp>
        <p:nvSpPr>
          <p:cNvPr id="3" name="Text 1"/>
          <p:cNvSpPr txBox="1"/>
          <p:nvPr/>
        </p:nvSpPr>
        <p:spPr>
          <a:xfrm>
            <a:off x="548640" y="457200"/>
            <a:ext cx="5120640" cy="320040"/>
          </a:xfrm>
          <a:prstGeom prst="rect">
            <a:avLst/>
          </a:prstGeom>
          <a:noFill/>
          <a:ln/>
        </p:spPr>
        <p:txBody>
          <a:bodyPr wrap="square" lIns="0" tIns="0" rIns="0" bIns="0" rtlCol="0" anchor="ctr"/>
          <a:lstStyle/>
          <a:p>
            <a:pPr indent="0" marL="0">
              <a:buNone/>
            </a:pPr>
            <a:r>
              <a:rPr lang="en-US" sz="1400" b="1" spc="300" kern="0" dirty="0">
                <a:solidFill>
                  <a:srgbClr val="444444"/>
                </a:solidFill>
                <a:latin typeface="Calibri" pitchFamily="34" charset="0"/>
                <a:ea typeface="Calibri" pitchFamily="34" charset="-122"/>
                <a:cs typeface="Calibri" pitchFamily="34" charset="-120"/>
              </a:rPr>
              <a:t>WEB DEVELOPMENT INTERNSHIP</a:t>
            </a:r>
            <a:endParaRPr lang="en-US" sz="1400" dirty="0"/>
          </a:p>
        </p:txBody>
      </p:sp>
      <p:sp>
        <p:nvSpPr>
          <p:cNvPr id="4" name="Text 2"/>
          <p:cNvSpPr txBox="1"/>
          <p:nvPr/>
        </p:nvSpPr>
        <p:spPr>
          <a:xfrm>
            <a:off x="548640" y="868680"/>
            <a:ext cx="8229600" cy="1188720"/>
          </a:xfrm>
          <a:prstGeom prst="rect">
            <a:avLst/>
          </a:prstGeom>
          <a:noFill/>
          <a:ln/>
        </p:spPr>
        <p:txBody>
          <a:bodyPr wrap="square" lIns="0" tIns="0" rIns="0" bIns="0" rtlCol="0" anchor="t"/>
          <a:lstStyle/>
          <a:p>
            <a:pPr indent="0" marL="0">
              <a:buNone/>
            </a:pPr>
            <a:r>
              <a:rPr lang="en-US" sz="2700" b="1" dirty="0">
                <a:solidFill>
                  <a:srgbClr val="000000"/>
                </a:solidFill>
                <a:latin typeface="Calibri" pitchFamily="34" charset="0"/>
                <a:ea typeface="Calibri" pitchFamily="34" charset="-122"/>
                <a:cs typeface="Calibri" pitchFamily="34" charset="-120"/>
              </a:rPr>
              <a:t>StockPilot – Smart Inventory Management System</a:t>
            </a:r>
            <a:endParaRPr lang="en-US" sz="2700" dirty="0"/>
          </a:p>
        </p:txBody>
      </p:sp>
      <p:sp>
        <p:nvSpPr>
          <p:cNvPr id="5" name="Text 3"/>
          <p:cNvSpPr txBox="1"/>
          <p:nvPr/>
        </p:nvSpPr>
        <p:spPr>
          <a:xfrm>
            <a:off x="548640" y="2194560"/>
            <a:ext cx="5120640" cy="2377440"/>
          </a:xfrm>
          <a:prstGeom prst="rect">
            <a:avLst/>
          </a:prstGeom>
          <a:noFill/>
          <a:ln/>
        </p:spPr>
        <p:txBody>
          <a:bodyPr wrap="square" lIns="0" tIns="0" rIns="0" bIns="0" rtlCol="0" anchor="t"/>
          <a:lstStyle/>
          <a:p>
            <a:pPr indent="0" marL="0">
              <a:buNone/>
            </a:pPr>
            <a:r>
              <a:rPr lang="en-US" sz="1200" b="1" dirty="0">
                <a:solidFill>
                  <a:srgbClr val="222222"/>
                </a:solidFill>
                <a:latin typeface="Calibri" pitchFamily="34" charset="0"/>
                <a:ea typeface="Calibri" pitchFamily="34" charset="-122"/>
                <a:cs typeface="Calibri" pitchFamily="34" charset="-120"/>
              </a:rPr>
              <a:t>Presented by: Abdul Rahman M</a:t>
            </a:r>
            <a:endParaRPr lang="en-US" sz="1200" dirty="0"/>
          </a:p>
          <a:p>
            <a:pPr indent="0" marL="0">
              <a:buNone/>
            </a:pPr>
            <a:r>
              <a:rPr lang="en-US" sz="1200" dirty="0">
                <a:solidFill>
                  <a:srgbClr val="222222"/>
                </a:solidFill>
                <a:latin typeface="Calibri" pitchFamily="34" charset="0"/>
                <a:ea typeface="Calibri" pitchFamily="34" charset="-122"/>
                <a:cs typeface="Calibri" pitchFamily="34" charset="-120"/>
              </a:rPr>
              <a:t>Register Number: 810023205312</a:t>
            </a:r>
            <a:endParaRPr lang="en-US" sz="1200" dirty="0"/>
          </a:p>
          <a:p>
            <a:pPr indent="0" marL="0">
              <a:buNone/>
            </a:pPr>
            <a:r>
              <a:rPr lang="en-US" sz="1200" dirty="0">
                <a:solidFill>
                  <a:srgbClr val="222222"/>
                </a:solidFill>
                <a:latin typeface="Calibri" pitchFamily="34" charset="0"/>
                <a:ea typeface="Calibri" pitchFamily="34" charset="-122"/>
                <a:cs typeface="Calibri" pitchFamily="34" charset="-120"/>
              </a:rPr>
              <a:t> </a:t>
            </a:r>
            <a:endParaRPr lang="en-US" sz="1200" dirty="0"/>
          </a:p>
          <a:p>
            <a:pPr indent="0" marL="0">
              <a:buNone/>
            </a:pPr>
            <a:r>
              <a:rPr lang="en-US" sz="1200" dirty="0">
                <a:solidFill>
                  <a:srgbClr val="222222"/>
                </a:solidFill>
                <a:latin typeface="Calibri" pitchFamily="34" charset="0"/>
                <a:ea typeface="Calibri" pitchFamily="34" charset="-122"/>
                <a:cs typeface="Calibri" pitchFamily="34" charset="-120"/>
              </a:rPr>
              <a:t>Department of Information Technology</a:t>
            </a:r>
            <a:endParaRPr lang="en-US" sz="1200" dirty="0"/>
          </a:p>
          <a:p>
            <a:pPr indent="0" marL="0">
              <a:buNone/>
            </a:pPr>
            <a:r>
              <a:rPr lang="en-US" sz="1200" dirty="0">
                <a:solidFill>
                  <a:srgbClr val="222222"/>
                </a:solidFill>
                <a:latin typeface="Calibri" pitchFamily="34" charset="0"/>
                <a:ea typeface="Calibri" pitchFamily="34" charset="-122"/>
                <a:cs typeface="Calibri" pitchFamily="34" charset="-120"/>
              </a:rPr>
              <a:t>University College of Engineering, BIT Campus</a:t>
            </a:r>
            <a:endParaRPr lang="en-US" sz="1200" dirty="0"/>
          </a:p>
          <a:p>
            <a:pPr indent="0" marL="0">
              <a:buNone/>
            </a:pPr>
            <a:r>
              <a:rPr lang="en-US" sz="1200" dirty="0">
                <a:solidFill>
                  <a:srgbClr val="222222"/>
                </a:solidFill>
                <a:latin typeface="Calibri" pitchFamily="34" charset="0"/>
                <a:ea typeface="Calibri" pitchFamily="34" charset="-122"/>
                <a:cs typeface="Calibri" pitchFamily="34" charset="-120"/>
              </a:rPr>
              <a:t>Anna University, Trichy – 620024</a:t>
            </a:r>
            <a:endParaRPr lang="en-US" sz="1200" dirty="0"/>
          </a:p>
          <a:p>
            <a:pPr indent="0" marL="0">
              <a:buNone/>
            </a:pPr>
            <a:r>
              <a:rPr lang="en-US" sz="1200" dirty="0">
                <a:solidFill>
                  <a:srgbClr val="222222"/>
                </a:solidFill>
                <a:latin typeface="Calibri" pitchFamily="34" charset="0"/>
                <a:ea typeface="Calibri" pitchFamily="34" charset="-122"/>
                <a:cs typeface="Calibri" pitchFamily="34" charset="-120"/>
              </a:rPr>
              <a:t> </a:t>
            </a:r>
            <a:endParaRPr lang="en-US" sz="1200" dirty="0"/>
          </a:p>
          <a:p>
            <a:pPr indent="0" marL="0">
              <a:buNone/>
            </a:pPr>
            <a:r>
              <a:rPr lang="en-US" sz="1200" dirty="0">
                <a:solidFill>
                  <a:srgbClr val="222222"/>
                </a:solidFill>
                <a:latin typeface="Calibri" pitchFamily="34" charset="0"/>
                <a:ea typeface="Calibri" pitchFamily="34" charset="-122"/>
                <a:cs typeface="Calibri" pitchFamily="34" charset="-120"/>
              </a:rPr>
              <a:t>Internship Organization: Fantasy Solution, Trichy</a:t>
            </a:r>
            <a:endParaRPr lang="en-US" sz="1200" dirty="0"/>
          </a:p>
          <a:p>
            <a:pPr indent="0" marL="0">
              <a:buNone/>
            </a:pPr>
            <a:r>
              <a:rPr lang="en-US" sz="1200" dirty="0">
                <a:solidFill>
                  <a:srgbClr val="222222"/>
                </a:solidFill>
                <a:latin typeface="Calibri" pitchFamily="34" charset="0"/>
                <a:ea typeface="Calibri" pitchFamily="34" charset="-122"/>
                <a:cs typeface="Calibri" pitchFamily="34" charset="-120"/>
              </a:rPr>
              <a:t>Duration: 01 June – 30 June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444444"/>
          </a:solidFill>
          <a:ln w="12700">
            <a:solidFill>
              <a:srgbClr val="444444"/>
            </a:solidFill>
            <a:prstDash val="solid"/>
          </a:ln>
        </p:spPr>
      </p:sp>
      <p:sp>
        <p:nvSpPr>
          <p:cNvPr id="3" name="Text 1"/>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600" b="1" dirty="0">
                <a:solidFill>
                  <a:srgbClr val="000000"/>
                </a:solidFill>
                <a:latin typeface="Calibri" pitchFamily="34" charset="0"/>
                <a:ea typeface="Calibri" pitchFamily="34" charset="-122"/>
                <a:cs typeface="Calibri" pitchFamily="34" charset="-120"/>
              </a:rPr>
              <a:t>Company &amp; Internship Overview</a:t>
            </a:r>
            <a:endParaRPr lang="en-US" sz="2600" dirty="0"/>
          </a:p>
        </p:txBody>
      </p:sp>
      <p:sp>
        <p:nvSpPr>
          <p:cNvPr id="4" name="Shape 2"/>
          <p:cNvSpPr/>
          <p:nvPr/>
        </p:nvSpPr>
        <p:spPr>
          <a:xfrm>
            <a:off x="457200" y="841248"/>
            <a:ext cx="731520" cy="45720"/>
          </a:xfrm>
          <a:prstGeom prst="rect">
            <a:avLst/>
          </a:prstGeom>
          <a:solidFill>
            <a:srgbClr val="444444"/>
          </a:solidFill>
          <a:ln w="12700">
            <a:solidFill>
              <a:srgbClr val="444444"/>
            </a:solidFill>
            <a:prstDash val="solid"/>
          </a:ln>
        </p:spPr>
      </p:sp>
      <p:sp>
        <p:nvSpPr>
          <p:cNvPr id="5" name="Text 3"/>
          <p:cNvSpPr txBox="1"/>
          <p:nvPr/>
        </p:nvSpPr>
        <p:spPr>
          <a:xfrm>
            <a:off x="457200" y="4800600"/>
            <a:ext cx="5486400" cy="228600"/>
          </a:xfrm>
          <a:prstGeom prst="rect">
            <a:avLst/>
          </a:prstGeom>
          <a:noFill/>
          <a:ln/>
        </p:spPr>
        <p:txBody>
          <a:bodyPr wrap="square" lIns="0" tIns="0" rIns="0" bIns="0" rtlCol="0" anchor="ctr"/>
          <a:lstStyle/>
          <a:p>
            <a:pPr indent="0" marL="0">
              <a:buNone/>
            </a:pPr>
            <a:r>
              <a:rPr lang="en-US" sz="900" dirty="0">
                <a:solidFill>
                  <a:srgbClr val="555555"/>
                </a:solidFill>
                <a:latin typeface="Calibri" pitchFamily="34" charset="0"/>
                <a:ea typeface="Calibri" pitchFamily="34" charset="-122"/>
                <a:cs typeface="Calibri" pitchFamily="34" charset="-120"/>
              </a:rPr>
              <a:t>StockPilot – Internship Presentation</a:t>
            </a:r>
            <a:endParaRPr lang="en-US" sz="900" dirty="0"/>
          </a:p>
        </p:txBody>
      </p:sp>
      <p:sp>
        <p:nvSpPr>
          <p:cNvPr id="6" name="Text 4"/>
          <p:cNvSpPr txBox="1"/>
          <p:nvPr/>
        </p:nvSpPr>
        <p:spPr>
          <a:xfrm>
            <a:off x="8229600" y="4800600"/>
            <a:ext cx="457200" cy="228600"/>
          </a:xfrm>
          <a:prstGeom prst="rect">
            <a:avLst/>
          </a:prstGeom>
          <a:noFill/>
          <a:ln/>
        </p:spPr>
        <p:txBody>
          <a:bodyPr wrap="square" lIns="0" tIns="0" rIns="0" bIns="0" rtlCol="0" anchor="ctr"/>
          <a:lstStyle/>
          <a:p>
            <a:pPr algn="r" indent="0" marL="0">
              <a:buNone/>
            </a:pPr>
            <a:r>
              <a:rPr lang="en-US" sz="900" dirty="0">
                <a:solidFill>
                  <a:srgbClr val="555555"/>
                </a:solidFill>
                <a:latin typeface="Calibri" pitchFamily="34" charset="0"/>
                <a:ea typeface="Calibri" pitchFamily="34" charset="-122"/>
                <a:cs typeface="Calibri" pitchFamily="34" charset="-120"/>
              </a:rPr>
              <a:t>2</a:t>
            </a:r>
            <a:endParaRPr lang="en-US" sz="900" dirty="0"/>
          </a:p>
        </p:txBody>
      </p:sp>
      <p:sp>
        <p:nvSpPr>
          <p:cNvPr id="7" name="Text 5"/>
          <p:cNvSpPr txBox="1"/>
          <p:nvPr/>
        </p:nvSpPr>
        <p:spPr>
          <a:xfrm>
            <a:off x="457200" y="1097280"/>
            <a:ext cx="8229600" cy="365760"/>
          </a:xfrm>
          <a:prstGeom prst="rect">
            <a:avLst/>
          </a:prstGeom>
          <a:noFill/>
          <a:ln/>
        </p:spPr>
        <p:txBody>
          <a:bodyPr wrap="square" lIns="0" tIns="0" rIns="0" bIns="0" rtlCol="0" anchor="ctr"/>
          <a:lstStyle/>
          <a:p>
            <a:pPr indent="0" marL="0">
              <a:buNone/>
            </a:pPr>
            <a:r>
              <a:rPr lang="en-US" sz="1600" b="1" dirty="0">
                <a:solidFill>
                  <a:srgbClr val="444444"/>
                </a:solidFill>
                <a:latin typeface="Calibri" pitchFamily="34" charset="0"/>
                <a:ea typeface="Calibri" pitchFamily="34" charset="-122"/>
                <a:cs typeface="Calibri" pitchFamily="34" charset="-120"/>
              </a:rPr>
              <a:t>Fantasy Solution – Web Development Internship</a:t>
            </a:r>
            <a:endParaRPr lang="en-US" sz="1600" dirty="0"/>
          </a:p>
        </p:txBody>
      </p:sp>
      <p:sp>
        <p:nvSpPr>
          <p:cNvPr id="8" name="Text 6"/>
          <p:cNvSpPr txBox="1"/>
          <p:nvPr/>
        </p:nvSpPr>
        <p:spPr>
          <a:xfrm>
            <a:off x="457200" y="1600200"/>
            <a:ext cx="4937760" cy="292608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1A1A1A"/>
                </a:solidFill>
                <a:latin typeface="Calibri" pitchFamily="34" charset="0"/>
                <a:ea typeface="Calibri" pitchFamily="34" charset="-122"/>
                <a:cs typeface="Calibri" pitchFamily="34" charset="-120"/>
              </a:rPr>
              <a:t>Organization: Fantasy Solution, Trichy</a:t>
            </a:r>
            <a:endParaRPr lang="en-US" sz="1300" dirty="0"/>
          </a:p>
          <a:p>
            <a:pPr marL="342900" indent="-342900">
              <a:spcAft>
                <a:spcPts val="600"/>
              </a:spcAft>
              <a:buSzPct val="100000"/>
              <a:buChar char="•"/>
            </a:pPr>
            <a:r>
              <a:rPr lang="en-US" sz="1300" dirty="0">
                <a:solidFill>
                  <a:srgbClr val="1A1A1A"/>
                </a:solidFill>
                <a:latin typeface="Calibri" pitchFamily="34" charset="0"/>
                <a:ea typeface="Calibri" pitchFamily="34" charset="-122"/>
                <a:cs typeface="Calibri" pitchFamily="34" charset="-120"/>
              </a:rPr>
              <a:t>Address: No. 16, Samnath Plazza, Third Floor, Melapudur, Trichy – 620001</a:t>
            </a:r>
            <a:endParaRPr lang="en-US" sz="1300" dirty="0"/>
          </a:p>
          <a:p>
            <a:pPr marL="342900" indent="-342900">
              <a:spcAft>
                <a:spcPts val="600"/>
              </a:spcAft>
              <a:buSzPct val="100000"/>
              <a:buChar char="•"/>
            </a:pPr>
            <a:r>
              <a:rPr lang="en-US" sz="1300" dirty="0">
                <a:solidFill>
                  <a:srgbClr val="1A1A1A"/>
                </a:solidFill>
                <a:latin typeface="Calibri" pitchFamily="34" charset="0"/>
                <a:ea typeface="Calibri" pitchFamily="34" charset="-122"/>
                <a:cs typeface="Calibri" pitchFamily="34" charset="-120"/>
              </a:rPr>
              <a:t>Duration: One month (30 days)</a:t>
            </a:r>
            <a:endParaRPr lang="en-US" sz="1300" dirty="0"/>
          </a:p>
          <a:p>
            <a:pPr marL="342900" indent="-342900">
              <a:spcAft>
                <a:spcPts val="600"/>
              </a:spcAft>
              <a:buSzPct val="100000"/>
              <a:buChar char="•"/>
            </a:pPr>
            <a:r>
              <a:rPr lang="en-US" sz="1300" dirty="0">
                <a:solidFill>
                  <a:srgbClr val="1A1A1A"/>
                </a:solidFill>
                <a:latin typeface="Calibri" pitchFamily="34" charset="0"/>
                <a:ea typeface="Calibri" pitchFamily="34" charset="-122"/>
                <a:cs typeface="Calibri" pitchFamily="34" charset="-120"/>
              </a:rPr>
              <a:t>Internship domain: Web Development</a:t>
            </a:r>
            <a:endParaRPr lang="en-US" sz="1300" dirty="0"/>
          </a:p>
          <a:p>
            <a:pPr marL="342900" indent="-342900">
              <a:spcAft>
                <a:spcPts val="600"/>
              </a:spcAft>
              <a:buSzPct val="100000"/>
              <a:buChar char="•"/>
            </a:pPr>
            <a:r>
              <a:rPr lang="en-US" sz="1300" dirty="0">
                <a:solidFill>
                  <a:srgbClr val="1A1A1A"/>
                </a:solidFill>
                <a:latin typeface="Calibri" pitchFamily="34" charset="0"/>
                <a:ea typeface="Calibri" pitchFamily="34" charset="-122"/>
                <a:cs typeface="Calibri" pitchFamily="34" charset="-120"/>
              </a:rPr>
              <a:t>Focus: Web page structure, styling, responsiveness, interactivity, UI/UX, and supporting web technologies</a:t>
            </a:r>
            <a:endParaRPr lang="en-US" sz="1300" dirty="0"/>
          </a:p>
        </p:txBody>
      </p:sp>
      <p:sp>
        <p:nvSpPr>
          <p:cNvPr id="9" name="Shape 7"/>
          <p:cNvSpPr/>
          <p:nvPr/>
        </p:nvSpPr>
        <p:spPr>
          <a:xfrm>
            <a:off x="5852160" y="1645920"/>
            <a:ext cx="2834640" cy="2194560"/>
          </a:xfrm>
          <a:prstGeom prst="roundRect">
            <a:avLst>
              <a:gd name="adj" fmla="val 5000"/>
            </a:avLst>
          </a:prstGeom>
          <a:solidFill>
            <a:srgbClr val="000000"/>
          </a:solidFill>
          <a:ln w="12700">
            <a:solidFill>
              <a:srgbClr val="000000"/>
            </a:solidFill>
            <a:prstDash val="solid"/>
          </a:ln>
        </p:spPr>
      </p:sp>
      <p:sp>
        <p:nvSpPr>
          <p:cNvPr id="10" name="Text 8"/>
          <p:cNvSpPr txBox="1"/>
          <p:nvPr/>
        </p:nvSpPr>
        <p:spPr>
          <a:xfrm>
            <a:off x="6035040" y="1783080"/>
            <a:ext cx="2468880" cy="1920240"/>
          </a:xfrm>
          <a:prstGeom prst="rect">
            <a:avLst/>
          </a:prstGeom>
          <a:noFill/>
          <a:ln/>
        </p:spPr>
        <p:txBody>
          <a:bodyPr wrap="square" lIns="0" tIns="0" rIns="0" bIns="0" rtlCol="0" anchor="ctr"/>
          <a:lstStyle/>
          <a:p>
            <a:pPr indent="0" marL="0">
              <a:spcAft>
                <a:spcPts val="800"/>
              </a:spcAft>
              <a:buNone/>
            </a:pPr>
            <a:r>
              <a:rPr lang="en-US" sz="1000" b="1" spc="200" kern="0" dirty="0">
                <a:solidFill>
                  <a:srgbClr val="BBBBBB"/>
                </a:solidFill>
                <a:latin typeface="Calibri" pitchFamily="34" charset="0"/>
                <a:ea typeface="Calibri" pitchFamily="34" charset="-122"/>
                <a:cs typeface="Calibri" pitchFamily="34" charset="-120"/>
              </a:rPr>
              <a:t>PROJECT</a:t>
            </a:r>
            <a:endParaRPr lang="en-US" sz="1000" dirty="0"/>
          </a:p>
          <a:p>
            <a:pPr indent="0" marL="0">
              <a:spcAft>
                <a:spcPts val="800"/>
              </a:spcAft>
              <a:buNone/>
            </a:pPr>
            <a:r>
              <a:rPr lang="en-US" sz="1600" b="1" dirty="0">
                <a:solidFill>
                  <a:srgbClr val="FFFFFF"/>
                </a:solidFill>
                <a:latin typeface="Calibri" pitchFamily="34" charset="0"/>
                <a:ea typeface="Calibri" pitchFamily="34" charset="-122"/>
                <a:cs typeface="Calibri" pitchFamily="34" charset="-120"/>
              </a:rPr>
              <a:t>StockPilot – Smart Inventory Management System</a:t>
            </a:r>
            <a:endParaRPr lang="en-US" sz="1000" dirty="0"/>
          </a:p>
          <a:p>
            <a:pPr indent="0" marL="0">
              <a:spcAft>
                <a:spcPts val="800"/>
              </a:spcAft>
              <a:buNone/>
            </a:pPr>
            <a:r>
              <a:rPr lang="en-US" sz="1100" dirty="0">
                <a:solidFill>
                  <a:srgbClr val="E6E6E6"/>
                </a:solidFill>
                <a:latin typeface="Calibri" pitchFamily="34" charset="0"/>
                <a:ea typeface="Calibri" pitchFamily="34" charset="-122"/>
                <a:cs typeface="Calibri" pitchFamily="34" charset="-120"/>
              </a:rPr>
              <a:t>Course: CS3711 – Summer Internship</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444444"/>
          </a:solidFill>
          <a:ln w="12700">
            <a:solidFill>
              <a:srgbClr val="444444"/>
            </a:solidFill>
            <a:prstDash val="solid"/>
          </a:ln>
        </p:spPr>
      </p:sp>
      <p:sp>
        <p:nvSpPr>
          <p:cNvPr id="3" name="Text 1"/>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600" b="1" dirty="0">
                <a:solidFill>
                  <a:srgbClr val="000000"/>
                </a:solidFill>
                <a:latin typeface="Calibri" pitchFamily="34" charset="0"/>
                <a:ea typeface="Calibri" pitchFamily="34" charset="-122"/>
                <a:cs typeface="Calibri" pitchFamily="34" charset="-120"/>
              </a:rPr>
              <a:t>Internship Objectives &amp; Training</a:t>
            </a:r>
            <a:endParaRPr lang="en-US" sz="2600" dirty="0"/>
          </a:p>
        </p:txBody>
      </p:sp>
      <p:sp>
        <p:nvSpPr>
          <p:cNvPr id="4" name="Shape 2"/>
          <p:cNvSpPr/>
          <p:nvPr/>
        </p:nvSpPr>
        <p:spPr>
          <a:xfrm>
            <a:off x="457200" y="841248"/>
            <a:ext cx="731520" cy="45720"/>
          </a:xfrm>
          <a:prstGeom prst="rect">
            <a:avLst/>
          </a:prstGeom>
          <a:solidFill>
            <a:srgbClr val="444444"/>
          </a:solidFill>
          <a:ln w="12700">
            <a:solidFill>
              <a:srgbClr val="444444"/>
            </a:solidFill>
            <a:prstDash val="solid"/>
          </a:ln>
        </p:spPr>
      </p:sp>
      <p:sp>
        <p:nvSpPr>
          <p:cNvPr id="5" name="Text 3"/>
          <p:cNvSpPr txBox="1"/>
          <p:nvPr/>
        </p:nvSpPr>
        <p:spPr>
          <a:xfrm>
            <a:off x="457200" y="4800600"/>
            <a:ext cx="5486400" cy="228600"/>
          </a:xfrm>
          <a:prstGeom prst="rect">
            <a:avLst/>
          </a:prstGeom>
          <a:noFill/>
          <a:ln/>
        </p:spPr>
        <p:txBody>
          <a:bodyPr wrap="square" lIns="0" tIns="0" rIns="0" bIns="0" rtlCol="0" anchor="ctr"/>
          <a:lstStyle/>
          <a:p>
            <a:pPr indent="0" marL="0">
              <a:buNone/>
            </a:pPr>
            <a:r>
              <a:rPr lang="en-US" sz="900" dirty="0">
                <a:solidFill>
                  <a:srgbClr val="555555"/>
                </a:solidFill>
                <a:latin typeface="Calibri" pitchFamily="34" charset="0"/>
                <a:ea typeface="Calibri" pitchFamily="34" charset="-122"/>
                <a:cs typeface="Calibri" pitchFamily="34" charset="-120"/>
              </a:rPr>
              <a:t>StockPilot – Internship Presentation</a:t>
            </a:r>
            <a:endParaRPr lang="en-US" sz="900" dirty="0"/>
          </a:p>
        </p:txBody>
      </p:sp>
      <p:sp>
        <p:nvSpPr>
          <p:cNvPr id="6" name="Text 4"/>
          <p:cNvSpPr txBox="1"/>
          <p:nvPr/>
        </p:nvSpPr>
        <p:spPr>
          <a:xfrm>
            <a:off x="8229600" y="4800600"/>
            <a:ext cx="457200" cy="228600"/>
          </a:xfrm>
          <a:prstGeom prst="rect">
            <a:avLst/>
          </a:prstGeom>
          <a:noFill/>
          <a:ln/>
        </p:spPr>
        <p:txBody>
          <a:bodyPr wrap="square" lIns="0" tIns="0" rIns="0" bIns="0" rtlCol="0" anchor="ctr"/>
          <a:lstStyle/>
          <a:p>
            <a:pPr algn="r" indent="0" marL="0">
              <a:buNone/>
            </a:pPr>
            <a:r>
              <a:rPr lang="en-US" sz="900" dirty="0">
                <a:solidFill>
                  <a:srgbClr val="555555"/>
                </a:solidFill>
                <a:latin typeface="Calibri" pitchFamily="34" charset="0"/>
                <a:ea typeface="Calibri" pitchFamily="34" charset="-122"/>
                <a:cs typeface="Calibri" pitchFamily="34" charset="-120"/>
              </a:rPr>
              <a:t>3</a:t>
            </a:r>
            <a:endParaRPr lang="en-US" sz="900" dirty="0"/>
          </a:p>
        </p:txBody>
      </p:sp>
      <p:sp>
        <p:nvSpPr>
          <p:cNvPr id="7" name="Text 5"/>
          <p:cNvSpPr txBox="1"/>
          <p:nvPr/>
        </p:nvSpPr>
        <p:spPr>
          <a:xfrm>
            <a:off x="457200" y="1188720"/>
            <a:ext cx="5120640" cy="33832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1A1A1A"/>
                </a:solidFill>
                <a:latin typeface="Calibri" pitchFamily="34" charset="0"/>
                <a:ea typeface="Calibri" pitchFamily="34" charset="-122"/>
                <a:cs typeface="Calibri" pitchFamily="34" charset="-120"/>
              </a:rPr>
              <a:t>Understand the web development lifecycle</a:t>
            </a:r>
            <a:endParaRPr lang="en-US" sz="1400" dirty="0"/>
          </a:p>
          <a:p>
            <a:pPr marL="342900" indent="-342900">
              <a:spcAft>
                <a:spcPts val="600"/>
              </a:spcAft>
              <a:buSzPct val="100000"/>
              <a:buChar char="•"/>
            </a:pPr>
            <a:r>
              <a:rPr lang="en-US" sz="1400" dirty="0">
                <a:solidFill>
                  <a:srgbClr val="1A1A1A"/>
                </a:solidFill>
                <a:latin typeface="Calibri" pitchFamily="34" charset="0"/>
                <a:ea typeface="Calibri" pitchFamily="34" charset="-122"/>
                <a:cs typeface="Calibri" pitchFamily="34" charset="-120"/>
              </a:rPr>
              <a:t>Learn HTML, CSS, and JavaScript fundamentals</a:t>
            </a:r>
            <a:endParaRPr lang="en-US" sz="1400" dirty="0"/>
          </a:p>
          <a:p>
            <a:pPr marL="342900" indent="-342900">
              <a:spcAft>
                <a:spcPts val="600"/>
              </a:spcAft>
              <a:buSzPct val="100000"/>
              <a:buChar char="•"/>
            </a:pPr>
            <a:r>
              <a:rPr lang="en-US" sz="1400" dirty="0">
                <a:solidFill>
                  <a:srgbClr val="1A1A1A"/>
                </a:solidFill>
                <a:latin typeface="Calibri" pitchFamily="34" charset="0"/>
                <a:ea typeface="Calibri" pitchFamily="34" charset="-122"/>
                <a:cs typeface="Calibri" pitchFamily="34" charset="-120"/>
              </a:rPr>
              <a:t>Develop responsive, mobile-friendly interfaces</a:t>
            </a:r>
            <a:endParaRPr lang="en-US" sz="1400" dirty="0"/>
          </a:p>
          <a:p>
            <a:pPr marL="342900" indent="-342900">
              <a:spcAft>
                <a:spcPts val="600"/>
              </a:spcAft>
              <a:buSzPct val="100000"/>
              <a:buChar char="•"/>
            </a:pPr>
            <a:r>
              <a:rPr lang="en-US" sz="1400" dirty="0">
                <a:solidFill>
                  <a:srgbClr val="1A1A1A"/>
                </a:solidFill>
                <a:latin typeface="Calibri" pitchFamily="34" charset="0"/>
                <a:ea typeface="Calibri" pitchFamily="34" charset="-122"/>
                <a:cs typeface="Calibri" pitchFamily="34" charset="-120"/>
              </a:rPr>
              <a:t>Understand UI/UX design and accessibility</a:t>
            </a:r>
            <a:endParaRPr lang="en-US" sz="1400" dirty="0"/>
          </a:p>
          <a:p>
            <a:pPr marL="342900" indent="-342900">
              <a:spcAft>
                <a:spcPts val="600"/>
              </a:spcAft>
              <a:buSzPct val="100000"/>
              <a:buChar char="•"/>
            </a:pPr>
            <a:r>
              <a:rPr lang="en-US" sz="1400" dirty="0">
                <a:solidFill>
                  <a:srgbClr val="1A1A1A"/>
                </a:solidFill>
                <a:latin typeface="Calibri" pitchFamily="34" charset="0"/>
                <a:ea typeface="Calibri" pitchFamily="34" charset="-122"/>
                <a:cs typeface="Calibri" pitchFamily="34" charset="-120"/>
              </a:rPr>
              <a:t>Study CSS frameworks such as Bootstrap and Foundation</a:t>
            </a:r>
            <a:endParaRPr lang="en-US" sz="1400" dirty="0"/>
          </a:p>
          <a:p>
            <a:pPr marL="342900" indent="-342900">
              <a:spcAft>
                <a:spcPts val="600"/>
              </a:spcAft>
              <a:buSzPct val="100000"/>
              <a:buChar char="•"/>
            </a:pPr>
            <a:r>
              <a:rPr lang="en-US" sz="1400" dirty="0">
                <a:solidFill>
                  <a:srgbClr val="1A1A1A"/>
                </a:solidFill>
                <a:latin typeface="Calibri" pitchFamily="34" charset="0"/>
                <a:ea typeface="Calibri" pitchFamily="34" charset="-122"/>
                <a:cs typeface="Calibri" pitchFamily="34" charset="-120"/>
              </a:rPr>
              <a:t>Learn website performance, security, SEO, and analytics</a:t>
            </a:r>
            <a:endParaRPr lang="en-US" sz="1400" dirty="0"/>
          </a:p>
          <a:p>
            <a:pPr marL="342900" indent="-342900">
              <a:spcAft>
                <a:spcPts val="600"/>
              </a:spcAft>
              <a:buSzPct val="100000"/>
              <a:buChar char="•"/>
            </a:pPr>
            <a:r>
              <a:rPr lang="en-US" sz="1400" dirty="0">
                <a:solidFill>
                  <a:srgbClr val="1A1A1A"/>
                </a:solidFill>
                <a:latin typeface="Calibri" pitchFamily="34" charset="0"/>
                <a:ea typeface="Calibri" pitchFamily="34" charset="-122"/>
                <a:cs typeface="Calibri" pitchFamily="34" charset="-120"/>
              </a:rPr>
              <a:t>Gain introductory knowledge of CMS, JDBC, and SQL</a:t>
            </a:r>
            <a:endParaRPr lang="en-US" sz="1400" dirty="0"/>
          </a:p>
        </p:txBody>
      </p:sp>
      <p:sp>
        <p:nvSpPr>
          <p:cNvPr id="8" name="Shape 6"/>
          <p:cNvSpPr/>
          <p:nvPr/>
        </p:nvSpPr>
        <p:spPr>
          <a:xfrm>
            <a:off x="6126480" y="1280160"/>
            <a:ext cx="2377440" cy="475488"/>
          </a:xfrm>
          <a:prstGeom prst="roundRect">
            <a:avLst>
              <a:gd name="adj" fmla="val 19231"/>
            </a:avLst>
          </a:prstGeom>
          <a:solidFill>
            <a:srgbClr val="000000"/>
          </a:solidFill>
          <a:ln w="12700">
            <a:solidFill>
              <a:srgbClr val="FFFFFF"/>
            </a:solidFill>
            <a:prstDash val="solid"/>
          </a:ln>
        </p:spPr>
      </p:sp>
      <p:sp>
        <p:nvSpPr>
          <p:cNvPr id="9" name="Text 7"/>
          <p:cNvSpPr txBox="1"/>
          <p:nvPr/>
        </p:nvSpPr>
        <p:spPr>
          <a:xfrm>
            <a:off x="6126480" y="1280160"/>
            <a:ext cx="2377440" cy="475488"/>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HTML</a:t>
            </a:r>
            <a:endParaRPr lang="en-US" sz="1400" dirty="0"/>
          </a:p>
        </p:txBody>
      </p:sp>
      <p:sp>
        <p:nvSpPr>
          <p:cNvPr id="10" name="Shape 8"/>
          <p:cNvSpPr/>
          <p:nvPr/>
        </p:nvSpPr>
        <p:spPr>
          <a:xfrm>
            <a:off x="6126480" y="1901952"/>
            <a:ext cx="2377440" cy="475488"/>
          </a:xfrm>
          <a:prstGeom prst="roundRect">
            <a:avLst>
              <a:gd name="adj" fmla="val 19231"/>
            </a:avLst>
          </a:prstGeom>
          <a:solidFill>
            <a:srgbClr val="444444"/>
          </a:solidFill>
          <a:ln w="12700">
            <a:solidFill>
              <a:srgbClr val="FFFFFF"/>
            </a:solidFill>
            <a:prstDash val="solid"/>
          </a:ln>
        </p:spPr>
      </p:sp>
      <p:sp>
        <p:nvSpPr>
          <p:cNvPr id="11" name="Text 9"/>
          <p:cNvSpPr txBox="1"/>
          <p:nvPr/>
        </p:nvSpPr>
        <p:spPr>
          <a:xfrm>
            <a:off x="6126480" y="1901952"/>
            <a:ext cx="2377440" cy="475488"/>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CSS</a:t>
            </a:r>
            <a:endParaRPr lang="en-US" sz="1400" dirty="0"/>
          </a:p>
        </p:txBody>
      </p:sp>
      <p:sp>
        <p:nvSpPr>
          <p:cNvPr id="12" name="Shape 10"/>
          <p:cNvSpPr/>
          <p:nvPr/>
        </p:nvSpPr>
        <p:spPr>
          <a:xfrm>
            <a:off x="6126480" y="2523744"/>
            <a:ext cx="2377440" cy="475488"/>
          </a:xfrm>
          <a:prstGeom prst="roundRect">
            <a:avLst>
              <a:gd name="adj" fmla="val 19231"/>
            </a:avLst>
          </a:prstGeom>
          <a:solidFill>
            <a:srgbClr val="000000"/>
          </a:solidFill>
          <a:ln w="12700">
            <a:solidFill>
              <a:srgbClr val="FFFFFF"/>
            </a:solidFill>
            <a:prstDash val="solid"/>
          </a:ln>
        </p:spPr>
      </p:sp>
      <p:sp>
        <p:nvSpPr>
          <p:cNvPr id="13" name="Text 11"/>
          <p:cNvSpPr txBox="1"/>
          <p:nvPr/>
        </p:nvSpPr>
        <p:spPr>
          <a:xfrm>
            <a:off x="6126480" y="2523744"/>
            <a:ext cx="2377440" cy="475488"/>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JavaScript</a:t>
            </a:r>
            <a:endParaRPr lang="en-US" sz="1400" dirty="0"/>
          </a:p>
        </p:txBody>
      </p:sp>
      <p:sp>
        <p:nvSpPr>
          <p:cNvPr id="14" name="Shape 12"/>
          <p:cNvSpPr/>
          <p:nvPr/>
        </p:nvSpPr>
        <p:spPr>
          <a:xfrm>
            <a:off x="6126480" y="3145536"/>
            <a:ext cx="2377440" cy="475488"/>
          </a:xfrm>
          <a:prstGeom prst="roundRect">
            <a:avLst>
              <a:gd name="adj" fmla="val 19231"/>
            </a:avLst>
          </a:prstGeom>
          <a:solidFill>
            <a:srgbClr val="444444"/>
          </a:solidFill>
          <a:ln w="12700">
            <a:solidFill>
              <a:srgbClr val="FFFFFF"/>
            </a:solidFill>
            <a:prstDash val="solid"/>
          </a:ln>
        </p:spPr>
      </p:sp>
      <p:sp>
        <p:nvSpPr>
          <p:cNvPr id="15" name="Text 13"/>
          <p:cNvSpPr txBox="1"/>
          <p:nvPr/>
        </p:nvSpPr>
        <p:spPr>
          <a:xfrm>
            <a:off x="6126480" y="3145536"/>
            <a:ext cx="2377440" cy="475488"/>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Bootstrap</a:t>
            </a:r>
            <a:endParaRPr lang="en-US" sz="1400" dirty="0"/>
          </a:p>
        </p:txBody>
      </p:sp>
      <p:sp>
        <p:nvSpPr>
          <p:cNvPr id="16" name="Shape 14"/>
          <p:cNvSpPr/>
          <p:nvPr/>
        </p:nvSpPr>
        <p:spPr>
          <a:xfrm>
            <a:off x="6126480" y="3767328"/>
            <a:ext cx="2377440" cy="475488"/>
          </a:xfrm>
          <a:prstGeom prst="roundRect">
            <a:avLst>
              <a:gd name="adj" fmla="val 19231"/>
            </a:avLst>
          </a:prstGeom>
          <a:solidFill>
            <a:srgbClr val="000000"/>
          </a:solidFill>
          <a:ln w="12700">
            <a:solidFill>
              <a:srgbClr val="FFFFFF"/>
            </a:solidFill>
            <a:prstDash val="solid"/>
          </a:ln>
        </p:spPr>
      </p:sp>
      <p:sp>
        <p:nvSpPr>
          <p:cNvPr id="17" name="Text 15"/>
          <p:cNvSpPr txBox="1"/>
          <p:nvPr/>
        </p:nvSpPr>
        <p:spPr>
          <a:xfrm>
            <a:off x="6126480" y="3767328"/>
            <a:ext cx="2377440" cy="475488"/>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SQL</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444444"/>
          </a:solidFill>
          <a:ln w="12700">
            <a:solidFill>
              <a:srgbClr val="444444"/>
            </a:solidFill>
            <a:prstDash val="solid"/>
          </a:ln>
        </p:spPr>
      </p:sp>
      <p:sp>
        <p:nvSpPr>
          <p:cNvPr id="3" name="Text 1"/>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600" b="1" dirty="0">
                <a:solidFill>
                  <a:srgbClr val="000000"/>
                </a:solidFill>
                <a:latin typeface="Calibri" pitchFamily="34" charset="0"/>
                <a:ea typeface="Calibri" pitchFamily="34" charset="-122"/>
                <a:cs typeface="Calibri" pitchFamily="34" charset="-120"/>
              </a:rPr>
              <a:t>Problem Statement &amp; Project Objectives</a:t>
            </a:r>
            <a:endParaRPr lang="en-US" sz="2600" dirty="0"/>
          </a:p>
        </p:txBody>
      </p:sp>
      <p:sp>
        <p:nvSpPr>
          <p:cNvPr id="4" name="Shape 2"/>
          <p:cNvSpPr/>
          <p:nvPr/>
        </p:nvSpPr>
        <p:spPr>
          <a:xfrm>
            <a:off x="457200" y="841248"/>
            <a:ext cx="731520" cy="45720"/>
          </a:xfrm>
          <a:prstGeom prst="rect">
            <a:avLst/>
          </a:prstGeom>
          <a:solidFill>
            <a:srgbClr val="444444"/>
          </a:solidFill>
          <a:ln w="12700">
            <a:solidFill>
              <a:srgbClr val="444444"/>
            </a:solidFill>
            <a:prstDash val="solid"/>
          </a:ln>
        </p:spPr>
      </p:sp>
      <p:sp>
        <p:nvSpPr>
          <p:cNvPr id="5" name="Text 3"/>
          <p:cNvSpPr txBox="1"/>
          <p:nvPr/>
        </p:nvSpPr>
        <p:spPr>
          <a:xfrm>
            <a:off x="457200" y="4800600"/>
            <a:ext cx="5486400" cy="228600"/>
          </a:xfrm>
          <a:prstGeom prst="rect">
            <a:avLst/>
          </a:prstGeom>
          <a:noFill/>
          <a:ln/>
        </p:spPr>
        <p:txBody>
          <a:bodyPr wrap="square" lIns="0" tIns="0" rIns="0" bIns="0" rtlCol="0" anchor="ctr"/>
          <a:lstStyle/>
          <a:p>
            <a:pPr indent="0" marL="0">
              <a:buNone/>
            </a:pPr>
            <a:r>
              <a:rPr lang="en-US" sz="900" dirty="0">
                <a:solidFill>
                  <a:srgbClr val="555555"/>
                </a:solidFill>
                <a:latin typeface="Calibri" pitchFamily="34" charset="0"/>
                <a:ea typeface="Calibri" pitchFamily="34" charset="-122"/>
                <a:cs typeface="Calibri" pitchFamily="34" charset="-120"/>
              </a:rPr>
              <a:t>StockPilot – Internship Presentation</a:t>
            </a:r>
            <a:endParaRPr lang="en-US" sz="900" dirty="0"/>
          </a:p>
        </p:txBody>
      </p:sp>
      <p:sp>
        <p:nvSpPr>
          <p:cNvPr id="6" name="Text 4"/>
          <p:cNvSpPr txBox="1"/>
          <p:nvPr/>
        </p:nvSpPr>
        <p:spPr>
          <a:xfrm>
            <a:off x="8229600" y="4800600"/>
            <a:ext cx="457200" cy="228600"/>
          </a:xfrm>
          <a:prstGeom prst="rect">
            <a:avLst/>
          </a:prstGeom>
          <a:noFill/>
          <a:ln/>
        </p:spPr>
        <p:txBody>
          <a:bodyPr wrap="square" lIns="0" tIns="0" rIns="0" bIns="0" rtlCol="0" anchor="ctr"/>
          <a:lstStyle/>
          <a:p>
            <a:pPr algn="r" indent="0" marL="0">
              <a:buNone/>
            </a:pPr>
            <a:r>
              <a:rPr lang="en-US" sz="900" dirty="0">
                <a:solidFill>
                  <a:srgbClr val="555555"/>
                </a:solidFill>
                <a:latin typeface="Calibri" pitchFamily="34" charset="0"/>
                <a:ea typeface="Calibri" pitchFamily="34" charset="-122"/>
                <a:cs typeface="Calibri" pitchFamily="34" charset="-120"/>
              </a:rPr>
              <a:t>4</a:t>
            </a:r>
            <a:endParaRPr lang="en-US" sz="900" dirty="0"/>
          </a:p>
        </p:txBody>
      </p:sp>
      <p:sp>
        <p:nvSpPr>
          <p:cNvPr id="7" name="Shape 5"/>
          <p:cNvSpPr/>
          <p:nvPr/>
        </p:nvSpPr>
        <p:spPr>
          <a:xfrm>
            <a:off x="457200" y="1143000"/>
            <a:ext cx="3931920" cy="3383280"/>
          </a:xfrm>
          <a:prstGeom prst="roundRect">
            <a:avLst>
              <a:gd name="adj" fmla="val 2703"/>
            </a:avLst>
          </a:prstGeom>
          <a:solidFill>
            <a:srgbClr val="FFFFFF"/>
          </a:solidFill>
          <a:ln w="12700">
            <a:solidFill>
              <a:srgbClr val="BBBBBB"/>
            </a:solidFill>
            <a:prstDash val="solid"/>
          </a:ln>
        </p:spPr>
      </p:sp>
      <p:sp>
        <p:nvSpPr>
          <p:cNvPr id="8" name="Text 6"/>
          <p:cNvSpPr txBox="1"/>
          <p:nvPr/>
        </p:nvSpPr>
        <p:spPr>
          <a:xfrm>
            <a:off x="640080" y="1234440"/>
            <a:ext cx="3566160" cy="320040"/>
          </a:xfrm>
          <a:prstGeom prst="rect">
            <a:avLst/>
          </a:prstGeom>
          <a:noFill/>
          <a:ln/>
        </p:spPr>
        <p:txBody>
          <a:bodyPr wrap="square" lIns="0" tIns="0" rIns="0" bIns="0" rtlCol="0" anchor="ctr"/>
          <a:lstStyle/>
          <a:p>
            <a:pPr indent="0" marL="0">
              <a:buNone/>
            </a:pPr>
            <a:r>
              <a:rPr lang="en-US" sz="1500" b="1" dirty="0">
                <a:solidFill>
                  <a:srgbClr val="444444"/>
                </a:solidFill>
                <a:latin typeface="Calibri" pitchFamily="34" charset="0"/>
                <a:ea typeface="Calibri" pitchFamily="34" charset="-122"/>
                <a:cs typeface="Calibri" pitchFamily="34" charset="-120"/>
              </a:rPr>
              <a:t>Problem Statement</a:t>
            </a:r>
            <a:endParaRPr lang="en-US" sz="1500" dirty="0"/>
          </a:p>
        </p:txBody>
      </p:sp>
      <p:sp>
        <p:nvSpPr>
          <p:cNvPr id="9" name="Text 7"/>
          <p:cNvSpPr txBox="1"/>
          <p:nvPr/>
        </p:nvSpPr>
        <p:spPr>
          <a:xfrm>
            <a:off x="640080" y="1645920"/>
            <a:ext cx="3566160" cy="274320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1A1A1A"/>
                </a:solidFill>
                <a:latin typeface="Calibri" pitchFamily="34" charset="0"/>
                <a:ea typeface="Calibri" pitchFamily="34" charset="-122"/>
                <a:cs typeface="Calibri" pitchFamily="34" charset="-120"/>
              </a:rPr>
              <a:t>Manual stock and sales records are slow and error-prone</a:t>
            </a:r>
            <a:endParaRPr lang="en-US" sz="1200" dirty="0"/>
          </a:p>
          <a:p>
            <a:pPr marL="342900" indent="-342900">
              <a:spcAft>
                <a:spcPts val="600"/>
              </a:spcAft>
              <a:buSzPct val="100000"/>
              <a:buChar char="•"/>
            </a:pPr>
            <a:r>
              <a:rPr lang="en-US" sz="1200" dirty="0">
                <a:solidFill>
                  <a:srgbClr val="1A1A1A"/>
                </a:solidFill>
                <a:latin typeface="Calibri" pitchFamily="34" charset="0"/>
                <a:ea typeface="Calibri" pitchFamily="34" charset="-122"/>
                <a:cs typeface="Calibri" pitchFamily="34" charset="-120"/>
              </a:rPr>
              <a:t>Low or empty stock is noticed too late</a:t>
            </a:r>
            <a:endParaRPr lang="en-US" sz="1200" dirty="0"/>
          </a:p>
          <a:p>
            <a:pPr marL="342900" indent="-342900">
              <a:spcAft>
                <a:spcPts val="600"/>
              </a:spcAft>
              <a:buSzPct val="100000"/>
              <a:buChar char="•"/>
            </a:pPr>
            <a:r>
              <a:rPr lang="en-US" sz="1200" dirty="0">
                <a:solidFill>
                  <a:srgbClr val="1A1A1A"/>
                </a:solidFill>
                <a:latin typeface="Calibri" pitchFamily="34" charset="0"/>
                <a:ea typeface="Calibri" pitchFamily="34" charset="-122"/>
                <a:cs typeface="Calibri" pitchFamily="34" charset="-120"/>
              </a:rPr>
              <a:t>Product, supplier, and sales data are scattered across places</a:t>
            </a:r>
            <a:endParaRPr lang="en-US" sz="1200" dirty="0"/>
          </a:p>
          <a:p>
            <a:pPr marL="342900" indent="-342900">
              <a:spcAft>
                <a:spcPts val="600"/>
              </a:spcAft>
              <a:buSzPct val="100000"/>
              <a:buChar char="•"/>
            </a:pPr>
            <a:r>
              <a:rPr lang="en-US" sz="1200" dirty="0">
                <a:solidFill>
                  <a:srgbClr val="1A1A1A"/>
                </a:solidFill>
                <a:latin typeface="Calibri" pitchFamily="34" charset="0"/>
                <a:ea typeface="Calibri" pitchFamily="34" charset="-122"/>
                <a:cs typeface="Calibri" pitchFamily="34" charset="-120"/>
              </a:rPr>
              <a:t>No simple way to estimate next week's demand for reordering</a:t>
            </a:r>
            <a:endParaRPr lang="en-US" sz="1200" dirty="0"/>
          </a:p>
        </p:txBody>
      </p:sp>
      <p:sp>
        <p:nvSpPr>
          <p:cNvPr id="10" name="Shape 8"/>
          <p:cNvSpPr/>
          <p:nvPr/>
        </p:nvSpPr>
        <p:spPr>
          <a:xfrm>
            <a:off x="4663440" y="1143000"/>
            <a:ext cx="4023360" cy="3383280"/>
          </a:xfrm>
          <a:prstGeom prst="roundRect">
            <a:avLst>
              <a:gd name="adj" fmla="val 2703"/>
            </a:avLst>
          </a:prstGeom>
          <a:solidFill>
            <a:srgbClr val="F2F2F2"/>
          </a:solidFill>
          <a:ln w="12700">
            <a:solidFill>
              <a:srgbClr val="BBBBBB"/>
            </a:solidFill>
            <a:prstDash val="solid"/>
          </a:ln>
        </p:spPr>
      </p:sp>
      <p:sp>
        <p:nvSpPr>
          <p:cNvPr id="11" name="Text 9"/>
          <p:cNvSpPr txBox="1"/>
          <p:nvPr/>
        </p:nvSpPr>
        <p:spPr>
          <a:xfrm>
            <a:off x="4846320" y="1234440"/>
            <a:ext cx="3657600" cy="320040"/>
          </a:xfrm>
          <a:prstGeom prst="rect">
            <a:avLst/>
          </a:prstGeom>
          <a:noFill/>
          <a:ln/>
        </p:spPr>
        <p:txBody>
          <a:bodyPr wrap="square" lIns="0" tIns="0" rIns="0" bIns="0" rtlCol="0" anchor="ctr"/>
          <a:lstStyle/>
          <a:p>
            <a:pPr indent="0" marL="0">
              <a:buNone/>
            </a:pPr>
            <a:r>
              <a:rPr lang="en-US" sz="1500" b="1" dirty="0">
                <a:solidFill>
                  <a:srgbClr val="444444"/>
                </a:solidFill>
                <a:latin typeface="Calibri" pitchFamily="34" charset="0"/>
                <a:ea typeface="Calibri" pitchFamily="34" charset="-122"/>
                <a:cs typeface="Calibri" pitchFamily="34" charset="-120"/>
              </a:rPr>
              <a:t>Project Objectives</a:t>
            </a:r>
            <a:endParaRPr lang="en-US" sz="1500" dirty="0"/>
          </a:p>
        </p:txBody>
      </p:sp>
      <p:sp>
        <p:nvSpPr>
          <p:cNvPr id="12" name="Text 10"/>
          <p:cNvSpPr txBox="1"/>
          <p:nvPr/>
        </p:nvSpPr>
        <p:spPr>
          <a:xfrm>
            <a:off x="4846320" y="1645920"/>
            <a:ext cx="3657600" cy="2834640"/>
          </a:xfrm>
          <a:prstGeom prst="rect">
            <a:avLst/>
          </a:prstGeom>
          <a:noFill/>
          <a:ln/>
        </p:spPr>
        <p:txBody>
          <a:bodyPr wrap="square" lIns="0" tIns="0" rIns="0" bIns="0" rtlCol="0" anchor="t"/>
          <a:lstStyle/>
          <a:p>
            <a:pPr marL="342900" indent="-342900">
              <a:spcAft>
                <a:spcPts val="400"/>
              </a:spcAft>
              <a:buSzPct val="100000"/>
              <a:buChar char="•"/>
            </a:pPr>
            <a:r>
              <a:rPr lang="en-US" sz="1150" dirty="0">
                <a:solidFill>
                  <a:srgbClr val="1A1A1A"/>
                </a:solidFill>
                <a:latin typeface="Calibri" pitchFamily="34" charset="0"/>
                <a:ea typeface="Calibri" pitchFamily="34" charset="-122"/>
                <a:cs typeface="Calibri" pitchFamily="34" charset="-120"/>
              </a:rPr>
              <a:t>Keep product and supplier records in one web application</a:t>
            </a:r>
            <a:endParaRPr lang="en-US" sz="1150" dirty="0"/>
          </a:p>
          <a:p>
            <a:pPr marL="342900" indent="-342900">
              <a:spcAft>
                <a:spcPts val="400"/>
              </a:spcAft>
              <a:buSzPct val="100000"/>
              <a:buChar char="•"/>
            </a:pPr>
            <a:r>
              <a:rPr lang="en-US" sz="1150" dirty="0">
                <a:solidFill>
                  <a:srgbClr val="1A1A1A"/>
                </a:solidFill>
                <a:latin typeface="Calibri" pitchFamily="34" charset="0"/>
                <a:ea typeface="Calibri" pitchFamily="34" charset="-122"/>
                <a:cs typeface="Calibri" pitchFamily="34" charset="-120"/>
              </a:rPr>
              <a:t>Track stock additions, reductions, and sales with before/after quantities</a:t>
            </a:r>
            <a:endParaRPr lang="en-US" sz="1150" dirty="0"/>
          </a:p>
          <a:p>
            <a:pPr marL="342900" indent="-342900">
              <a:spcAft>
                <a:spcPts val="400"/>
              </a:spcAft>
              <a:buSzPct val="100000"/>
              <a:buChar char="•"/>
            </a:pPr>
            <a:r>
              <a:rPr lang="en-US" sz="1150" dirty="0">
                <a:solidFill>
                  <a:srgbClr val="1A1A1A"/>
                </a:solidFill>
                <a:latin typeface="Calibri" pitchFamily="34" charset="0"/>
                <a:ea typeface="Calibri" pitchFamily="34" charset="-122"/>
                <a:cs typeface="Calibri" pitchFamily="34" charset="-120"/>
              </a:rPr>
              <a:t>Record sales and update stock automatically</a:t>
            </a:r>
            <a:endParaRPr lang="en-US" sz="1150" dirty="0"/>
          </a:p>
          <a:p>
            <a:pPr marL="342900" indent="-342900">
              <a:spcAft>
                <a:spcPts val="400"/>
              </a:spcAft>
              <a:buSzPct val="100000"/>
              <a:buChar char="•"/>
            </a:pPr>
            <a:r>
              <a:rPr lang="en-US" sz="1150" dirty="0">
                <a:solidFill>
                  <a:srgbClr val="1A1A1A"/>
                </a:solidFill>
                <a:latin typeface="Calibri" pitchFamily="34" charset="0"/>
                <a:ea typeface="Calibri" pitchFamily="34" charset="-122"/>
                <a:cs typeface="Calibri" pitchFamily="34" charset="-120"/>
              </a:rPr>
              <a:t>Show low-stock alerts on a dashboard</a:t>
            </a:r>
            <a:endParaRPr lang="en-US" sz="1150" dirty="0"/>
          </a:p>
          <a:p>
            <a:pPr marL="342900" indent="-342900">
              <a:spcAft>
                <a:spcPts val="400"/>
              </a:spcAft>
              <a:buSzPct val="100000"/>
              <a:buChar char="•"/>
            </a:pPr>
            <a:r>
              <a:rPr lang="en-US" sz="1150" dirty="0">
                <a:solidFill>
                  <a:srgbClr val="1A1A1A"/>
                </a:solidFill>
                <a:latin typeface="Calibri" pitchFamily="34" charset="0"/>
                <a:ea typeface="Calibri" pitchFamily="34" charset="-122"/>
                <a:cs typeface="Calibri" pitchFamily="34" charset="-120"/>
              </a:rPr>
              <a:t>Generate daily, monthly, and product-wise reports with CSV export</a:t>
            </a:r>
            <a:endParaRPr lang="en-US" sz="1150" dirty="0"/>
          </a:p>
          <a:p>
            <a:pPr marL="342900" indent="-342900">
              <a:spcAft>
                <a:spcPts val="400"/>
              </a:spcAft>
              <a:buSzPct val="100000"/>
              <a:buChar char="•"/>
            </a:pPr>
            <a:r>
              <a:rPr lang="en-US" sz="1150" dirty="0">
                <a:solidFill>
                  <a:srgbClr val="1A1A1A"/>
                </a:solidFill>
                <a:latin typeface="Calibri" pitchFamily="34" charset="0"/>
                <a:ea typeface="Calibri" pitchFamily="34" charset="-122"/>
                <a:cs typeface="Calibri" pitchFamily="34" charset="-120"/>
              </a:rPr>
              <a:t>Provide AI demand predictions with risk levels for reorder decisions</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444444"/>
          </a:solidFill>
          <a:ln w="12700">
            <a:solidFill>
              <a:srgbClr val="444444"/>
            </a:solidFill>
            <a:prstDash val="solid"/>
          </a:ln>
        </p:spPr>
      </p:sp>
      <p:sp>
        <p:nvSpPr>
          <p:cNvPr id="3" name="Text 1"/>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600" b="1" dirty="0">
                <a:solidFill>
                  <a:srgbClr val="000000"/>
                </a:solidFill>
                <a:latin typeface="Calibri" pitchFamily="34" charset="0"/>
                <a:ea typeface="Calibri" pitchFamily="34" charset="-122"/>
                <a:cs typeface="Calibri" pitchFamily="34" charset="-120"/>
              </a:rPr>
              <a:t>Project Overview &amp; Dashboard</a:t>
            </a:r>
            <a:endParaRPr lang="en-US" sz="2600" dirty="0"/>
          </a:p>
        </p:txBody>
      </p:sp>
      <p:sp>
        <p:nvSpPr>
          <p:cNvPr id="4" name="Shape 2"/>
          <p:cNvSpPr/>
          <p:nvPr/>
        </p:nvSpPr>
        <p:spPr>
          <a:xfrm>
            <a:off x="457200" y="841248"/>
            <a:ext cx="731520" cy="45720"/>
          </a:xfrm>
          <a:prstGeom prst="rect">
            <a:avLst/>
          </a:prstGeom>
          <a:solidFill>
            <a:srgbClr val="444444"/>
          </a:solidFill>
          <a:ln w="12700">
            <a:solidFill>
              <a:srgbClr val="444444"/>
            </a:solidFill>
            <a:prstDash val="solid"/>
          </a:ln>
        </p:spPr>
      </p:sp>
      <p:sp>
        <p:nvSpPr>
          <p:cNvPr id="5" name="Text 3"/>
          <p:cNvSpPr txBox="1"/>
          <p:nvPr/>
        </p:nvSpPr>
        <p:spPr>
          <a:xfrm>
            <a:off x="457200" y="4800600"/>
            <a:ext cx="5486400" cy="228600"/>
          </a:xfrm>
          <a:prstGeom prst="rect">
            <a:avLst/>
          </a:prstGeom>
          <a:noFill/>
          <a:ln/>
        </p:spPr>
        <p:txBody>
          <a:bodyPr wrap="square" lIns="0" tIns="0" rIns="0" bIns="0" rtlCol="0" anchor="ctr"/>
          <a:lstStyle/>
          <a:p>
            <a:pPr indent="0" marL="0">
              <a:buNone/>
            </a:pPr>
            <a:r>
              <a:rPr lang="en-US" sz="900" dirty="0">
                <a:solidFill>
                  <a:srgbClr val="555555"/>
                </a:solidFill>
                <a:latin typeface="Calibri" pitchFamily="34" charset="0"/>
                <a:ea typeface="Calibri" pitchFamily="34" charset="-122"/>
                <a:cs typeface="Calibri" pitchFamily="34" charset="-120"/>
              </a:rPr>
              <a:t>StockPilot – Internship Presentation</a:t>
            </a:r>
            <a:endParaRPr lang="en-US" sz="900" dirty="0"/>
          </a:p>
        </p:txBody>
      </p:sp>
      <p:sp>
        <p:nvSpPr>
          <p:cNvPr id="6" name="Text 4"/>
          <p:cNvSpPr txBox="1"/>
          <p:nvPr/>
        </p:nvSpPr>
        <p:spPr>
          <a:xfrm>
            <a:off x="8229600" y="4800600"/>
            <a:ext cx="457200" cy="228600"/>
          </a:xfrm>
          <a:prstGeom prst="rect">
            <a:avLst/>
          </a:prstGeom>
          <a:noFill/>
          <a:ln/>
        </p:spPr>
        <p:txBody>
          <a:bodyPr wrap="square" lIns="0" tIns="0" rIns="0" bIns="0" rtlCol="0" anchor="ctr"/>
          <a:lstStyle/>
          <a:p>
            <a:pPr algn="r" indent="0" marL="0">
              <a:buNone/>
            </a:pPr>
            <a:r>
              <a:rPr lang="en-US" sz="900" dirty="0">
                <a:solidFill>
                  <a:srgbClr val="555555"/>
                </a:solidFill>
                <a:latin typeface="Calibri" pitchFamily="34" charset="0"/>
                <a:ea typeface="Calibri" pitchFamily="34" charset="-122"/>
                <a:cs typeface="Calibri" pitchFamily="34" charset="-120"/>
              </a:rPr>
              <a:t>5</a:t>
            </a:r>
            <a:endParaRPr lang="en-US" sz="900" dirty="0"/>
          </a:p>
        </p:txBody>
      </p:sp>
      <p:sp>
        <p:nvSpPr>
          <p:cNvPr id="7" name="Text 5"/>
          <p:cNvSpPr txBox="1"/>
          <p:nvPr/>
        </p:nvSpPr>
        <p:spPr>
          <a:xfrm>
            <a:off x="457200" y="1097280"/>
            <a:ext cx="4206240" cy="822960"/>
          </a:xfrm>
          <a:prstGeom prst="rect">
            <a:avLst/>
          </a:prstGeom>
          <a:noFill/>
          <a:ln/>
        </p:spPr>
        <p:txBody>
          <a:bodyPr wrap="square" lIns="0" tIns="0" rIns="0" bIns="0" rtlCol="0" anchor="t"/>
          <a:lstStyle/>
          <a:p>
            <a:pPr indent="0" marL="0">
              <a:buNone/>
            </a:pPr>
            <a:r>
              <a:rPr lang="en-US" sz="1250" dirty="0">
                <a:solidFill>
                  <a:srgbClr val="1A1A1A"/>
                </a:solidFill>
                <a:latin typeface="Calibri" pitchFamily="34" charset="0"/>
                <a:ea typeface="Calibri" pitchFamily="34" charset="-122"/>
                <a:cs typeface="Calibri" pitchFamily="34" charset="-120"/>
              </a:rPr>
              <a:t>StockPilot brings product records, sales, suppliers, stock changes, reports, and demand prediction features into one interface.</a:t>
            </a:r>
            <a:endParaRPr lang="en-US" sz="1250" dirty="0"/>
          </a:p>
        </p:txBody>
      </p:sp>
      <p:sp>
        <p:nvSpPr>
          <p:cNvPr id="8" name="Shape 6"/>
          <p:cNvSpPr/>
          <p:nvPr/>
        </p:nvSpPr>
        <p:spPr>
          <a:xfrm>
            <a:off x="457200" y="2103120"/>
            <a:ext cx="2011680" cy="1051560"/>
          </a:xfrm>
          <a:prstGeom prst="roundRect">
            <a:avLst>
              <a:gd name="adj" fmla="val 8696"/>
            </a:avLst>
          </a:prstGeom>
          <a:solidFill>
            <a:srgbClr val="FFFFFF"/>
          </a:solidFill>
          <a:ln w="12700">
            <a:solidFill>
              <a:srgbClr val="BBBBBB"/>
            </a:solidFill>
            <a:prstDash val="solid"/>
          </a:ln>
        </p:spPr>
      </p:sp>
      <p:sp>
        <p:nvSpPr>
          <p:cNvPr id="9" name="Text 7"/>
          <p:cNvSpPr txBox="1"/>
          <p:nvPr/>
        </p:nvSpPr>
        <p:spPr>
          <a:xfrm>
            <a:off x="457200" y="2194560"/>
            <a:ext cx="2011680" cy="548640"/>
          </a:xfrm>
          <a:prstGeom prst="rect">
            <a:avLst/>
          </a:prstGeom>
          <a:noFill/>
          <a:ln/>
        </p:spPr>
        <p:txBody>
          <a:bodyPr wrap="square" rtlCol="0" anchor="ctr"/>
          <a:lstStyle/>
          <a:p>
            <a:pPr algn="ctr" indent="0" marL="0">
              <a:buNone/>
            </a:pPr>
            <a:r>
              <a:rPr lang="en-US" sz="2600" b="1" dirty="0">
                <a:solidFill>
                  <a:srgbClr val="444444"/>
                </a:solidFill>
                <a:latin typeface="Calibri" pitchFamily="34" charset="0"/>
                <a:ea typeface="Calibri" pitchFamily="34" charset="-122"/>
                <a:cs typeface="Calibri" pitchFamily="34" charset="-120"/>
              </a:rPr>
              <a:t>15</a:t>
            </a:r>
            <a:endParaRPr lang="en-US" sz="2600" dirty="0"/>
          </a:p>
        </p:txBody>
      </p:sp>
      <p:sp>
        <p:nvSpPr>
          <p:cNvPr id="10" name="Text 8"/>
          <p:cNvSpPr txBox="1"/>
          <p:nvPr/>
        </p:nvSpPr>
        <p:spPr>
          <a:xfrm>
            <a:off x="457200" y="2743200"/>
            <a:ext cx="2011680" cy="274320"/>
          </a:xfrm>
          <a:prstGeom prst="rect">
            <a:avLst/>
          </a:prstGeom>
          <a:noFill/>
          <a:ln/>
        </p:spPr>
        <p:txBody>
          <a:bodyPr wrap="square" rtlCol="0" anchor="ctr"/>
          <a:lstStyle/>
          <a:p>
            <a:pPr algn="ctr" indent="0" marL="0">
              <a:buNone/>
            </a:pPr>
            <a:r>
              <a:rPr lang="en-US" sz="1100" dirty="0">
                <a:solidFill>
                  <a:srgbClr val="555555"/>
                </a:solidFill>
                <a:latin typeface="Calibri" pitchFamily="34" charset="0"/>
                <a:ea typeface="Calibri" pitchFamily="34" charset="-122"/>
                <a:cs typeface="Calibri" pitchFamily="34" charset="-120"/>
              </a:rPr>
              <a:t>Total Products</a:t>
            </a:r>
            <a:endParaRPr lang="en-US" sz="1100" dirty="0"/>
          </a:p>
        </p:txBody>
      </p:sp>
      <p:sp>
        <p:nvSpPr>
          <p:cNvPr id="11" name="Shape 9"/>
          <p:cNvSpPr/>
          <p:nvPr/>
        </p:nvSpPr>
        <p:spPr>
          <a:xfrm>
            <a:off x="2606040" y="2103120"/>
            <a:ext cx="2011680" cy="1051560"/>
          </a:xfrm>
          <a:prstGeom prst="roundRect">
            <a:avLst>
              <a:gd name="adj" fmla="val 8696"/>
            </a:avLst>
          </a:prstGeom>
          <a:solidFill>
            <a:srgbClr val="FFFFFF"/>
          </a:solidFill>
          <a:ln w="12700">
            <a:solidFill>
              <a:srgbClr val="BBBBBB"/>
            </a:solidFill>
            <a:prstDash val="solid"/>
          </a:ln>
        </p:spPr>
      </p:sp>
      <p:sp>
        <p:nvSpPr>
          <p:cNvPr id="12" name="Text 10"/>
          <p:cNvSpPr txBox="1"/>
          <p:nvPr/>
        </p:nvSpPr>
        <p:spPr>
          <a:xfrm>
            <a:off x="2606040" y="2194560"/>
            <a:ext cx="2011680" cy="548640"/>
          </a:xfrm>
          <a:prstGeom prst="rect">
            <a:avLst/>
          </a:prstGeom>
          <a:noFill/>
          <a:ln/>
        </p:spPr>
        <p:txBody>
          <a:bodyPr wrap="square" rtlCol="0" anchor="ctr"/>
          <a:lstStyle/>
          <a:p>
            <a:pPr algn="ctr" indent="0" marL="0">
              <a:buNone/>
            </a:pPr>
            <a:r>
              <a:rPr lang="en-US" sz="2600" b="1" dirty="0">
                <a:solidFill>
                  <a:srgbClr val="444444"/>
                </a:solidFill>
                <a:latin typeface="Calibri" pitchFamily="34" charset="0"/>
                <a:ea typeface="Calibri" pitchFamily="34" charset="-122"/>
                <a:cs typeface="Calibri" pitchFamily="34" charset="-120"/>
              </a:rPr>
              <a:t>6</a:t>
            </a:r>
            <a:endParaRPr lang="en-US" sz="2600" dirty="0"/>
          </a:p>
        </p:txBody>
      </p:sp>
      <p:sp>
        <p:nvSpPr>
          <p:cNvPr id="13" name="Text 11"/>
          <p:cNvSpPr txBox="1"/>
          <p:nvPr/>
        </p:nvSpPr>
        <p:spPr>
          <a:xfrm>
            <a:off x="2606040" y="2743200"/>
            <a:ext cx="2011680" cy="274320"/>
          </a:xfrm>
          <a:prstGeom prst="rect">
            <a:avLst/>
          </a:prstGeom>
          <a:noFill/>
          <a:ln/>
        </p:spPr>
        <p:txBody>
          <a:bodyPr wrap="square" rtlCol="0" anchor="ctr"/>
          <a:lstStyle/>
          <a:p>
            <a:pPr algn="ctr" indent="0" marL="0">
              <a:buNone/>
            </a:pPr>
            <a:r>
              <a:rPr lang="en-US" sz="1100" dirty="0">
                <a:solidFill>
                  <a:srgbClr val="555555"/>
                </a:solidFill>
                <a:latin typeface="Calibri" pitchFamily="34" charset="0"/>
                <a:ea typeface="Calibri" pitchFamily="34" charset="-122"/>
                <a:cs typeface="Calibri" pitchFamily="34" charset="-120"/>
              </a:rPr>
              <a:t>Low Stock</a:t>
            </a:r>
            <a:endParaRPr lang="en-US" sz="1100" dirty="0"/>
          </a:p>
        </p:txBody>
      </p:sp>
      <p:sp>
        <p:nvSpPr>
          <p:cNvPr id="14" name="Shape 12"/>
          <p:cNvSpPr/>
          <p:nvPr/>
        </p:nvSpPr>
        <p:spPr>
          <a:xfrm>
            <a:off x="457200" y="3291840"/>
            <a:ext cx="2011680" cy="1051560"/>
          </a:xfrm>
          <a:prstGeom prst="roundRect">
            <a:avLst>
              <a:gd name="adj" fmla="val 8696"/>
            </a:avLst>
          </a:prstGeom>
          <a:solidFill>
            <a:srgbClr val="FFFFFF"/>
          </a:solidFill>
          <a:ln w="12700">
            <a:solidFill>
              <a:srgbClr val="BBBBBB"/>
            </a:solidFill>
            <a:prstDash val="solid"/>
          </a:ln>
        </p:spPr>
      </p:sp>
      <p:sp>
        <p:nvSpPr>
          <p:cNvPr id="15" name="Text 13"/>
          <p:cNvSpPr txBox="1"/>
          <p:nvPr/>
        </p:nvSpPr>
        <p:spPr>
          <a:xfrm>
            <a:off x="457200" y="3383280"/>
            <a:ext cx="2011680" cy="548640"/>
          </a:xfrm>
          <a:prstGeom prst="rect">
            <a:avLst/>
          </a:prstGeom>
          <a:noFill/>
          <a:ln/>
        </p:spPr>
        <p:txBody>
          <a:bodyPr wrap="square" rtlCol="0" anchor="ctr"/>
          <a:lstStyle/>
          <a:p>
            <a:pPr algn="ctr" indent="0" marL="0">
              <a:buNone/>
            </a:pPr>
            <a:r>
              <a:rPr lang="en-US" sz="2600" b="1" dirty="0">
                <a:solidFill>
                  <a:srgbClr val="444444"/>
                </a:solidFill>
                <a:latin typeface="Calibri" pitchFamily="34" charset="0"/>
                <a:ea typeface="Calibri" pitchFamily="34" charset="-122"/>
                <a:cs typeface="Calibri" pitchFamily="34" charset="-120"/>
              </a:rPr>
              <a:t>3</a:t>
            </a:r>
            <a:endParaRPr lang="en-US" sz="2600" dirty="0"/>
          </a:p>
        </p:txBody>
      </p:sp>
      <p:sp>
        <p:nvSpPr>
          <p:cNvPr id="16" name="Text 14"/>
          <p:cNvSpPr txBox="1"/>
          <p:nvPr/>
        </p:nvSpPr>
        <p:spPr>
          <a:xfrm>
            <a:off x="457200" y="3931920"/>
            <a:ext cx="2011680" cy="274320"/>
          </a:xfrm>
          <a:prstGeom prst="rect">
            <a:avLst/>
          </a:prstGeom>
          <a:noFill/>
          <a:ln/>
        </p:spPr>
        <p:txBody>
          <a:bodyPr wrap="square" rtlCol="0" anchor="ctr"/>
          <a:lstStyle/>
          <a:p>
            <a:pPr algn="ctr" indent="0" marL="0">
              <a:buNone/>
            </a:pPr>
            <a:r>
              <a:rPr lang="en-US" sz="1100" dirty="0">
                <a:solidFill>
                  <a:srgbClr val="555555"/>
                </a:solidFill>
                <a:latin typeface="Calibri" pitchFamily="34" charset="0"/>
                <a:ea typeface="Calibri" pitchFamily="34" charset="-122"/>
                <a:cs typeface="Calibri" pitchFamily="34" charset="-120"/>
              </a:rPr>
              <a:t>Today's Sales</a:t>
            </a:r>
            <a:endParaRPr lang="en-US" sz="1100" dirty="0"/>
          </a:p>
        </p:txBody>
      </p:sp>
      <p:sp>
        <p:nvSpPr>
          <p:cNvPr id="17" name="Shape 15"/>
          <p:cNvSpPr/>
          <p:nvPr/>
        </p:nvSpPr>
        <p:spPr>
          <a:xfrm>
            <a:off x="2606040" y="3291840"/>
            <a:ext cx="2011680" cy="1051560"/>
          </a:xfrm>
          <a:prstGeom prst="roundRect">
            <a:avLst>
              <a:gd name="adj" fmla="val 8696"/>
            </a:avLst>
          </a:prstGeom>
          <a:solidFill>
            <a:srgbClr val="FFFFFF"/>
          </a:solidFill>
          <a:ln w="12700">
            <a:solidFill>
              <a:srgbClr val="BBBBBB"/>
            </a:solidFill>
            <a:prstDash val="solid"/>
          </a:ln>
        </p:spPr>
      </p:sp>
      <p:sp>
        <p:nvSpPr>
          <p:cNvPr id="18" name="Text 16"/>
          <p:cNvSpPr txBox="1"/>
          <p:nvPr/>
        </p:nvSpPr>
        <p:spPr>
          <a:xfrm>
            <a:off x="2606040" y="3383280"/>
            <a:ext cx="2011680" cy="548640"/>
          </a:xfrm>
          <a:prstGeom prst="rect">
            <a:avLst/>
          </a:prstGeom>
          <a:noFill/>
          <a:ln/>
        </p:spPr>
        <p:txBody>
          <a:bodyPr wrap="square" rtlCol="0" anchor="ctr"/>
          <a:lstStyle/>
          <a:p>
            <a:pPr algn="ctr" indent="0" marL="0">
              <a:buNone/>
            </a:pPr>
            <a:r>
              <a:rPr lang="en-US" sz="2600" b="1" dirty="0">
                <a:solidFill>
                  <a:srgbClr val="444444"/>
                </a:solidFill>
                <a:latin typeface="Calibri" pitchFamily="34" charset="0"/>
                <a:ea typeface="Calibri" pitchFamily="34" charset="-122"/>
                <a:cs typeface="Calibri" pitchFamily="34" charset="-120"/>
              </a:rPr>
              <a:t>₹60.00</a:t>
            </a:r>
            <a:endParaRPr lang="en-US" sz="2600" dirty="0"/>
          </a:p>
        </p:txBody>
      </p:sp>
      <p:sp>
        <p:nvSpPr>
          <p:cNvPr id="19" name="Text 17"/>
          <p:cNvSpPr txBox="1"/>
          <p:nvPr/>
        </p:nvSpPr>
        <p:spPr>
          <a:xfrm>
            <a:off x="2606040" y="3931920"/>
            <a:ext cx="2011680" cy="274320"/>
          </a:xfrm>
          <a:prstGeom prst="rect">
            <a:avLst/>
          </a:prstGeom>
          <a:noFill/>
          <a:ln/>
        </p:spPr>
        <p:txBody>
          <a:bodyPr wrap="square" rtlCol="0" anchor="ctr"/>
          <a:lstStyle/>
          <a:p>
            <a:pPr algn="ctr" indent="0" marL="0">
              <a:buNone/>
            </a:pPr>
            <a:r>
              <a:rPr lang="en-US" sz="1100" dirty="0">
                <a:solidFill>
                  <a:srgbClr val="555555"/>
                </a:solidFill>
                <a:latin typeface="Calibri" pitchFamily="34" charset="0"/>
                <a:ea typeface="Calibri" pitchFamily="34" charset="-122"/>
                <a:cs typeface="Calibri" pitchFamily="34" charset="-120"/>
              </a:rPr>
              <a:t>Today's Revenue</a:t>
            </a:r>
            <a:endParaRPr lang="en-US" sz="1100" dirty="0"/>
          </a:p>
        </p:txBody>
      </p:sp>
      <p:sp>
        <p:nvSpPr>
          <p:cNvPr id="20" name="Text 18"/>
          <p:cNvSpPr txBox="1"/>
          <p:nvPr/>
        </p:nvSpPr>
        <p:spPr>
          <a:xfrm>
            <a:off x="457200" y="4480560"/>
            <a:ext cx="4206240" cy="228600"/>
          </a:xfrm>
          <a:prstGeom prst="rect">
            <a:avLst/>
          </a:prstGeom>
          <a:noFill/>
          <a:ln/>
        </p:spPr>
        <p:txBody>
          <a:bodyPr wrap="square" lIns="0" tIns="0" rIns="0" bIns="0" rtlCol="0" anchor="ctr"/>
          <a:lstStyle/>
          <a:p>
            <a:pPr indent="0" marL="0">
              <a:buNone/>
            </a:pPr>
            <a:r>
              <a:rPr lang="en-US" sz="1000" i="1" dirty="0">
                <a:solidFill>
                  <a:srgbClr val="555555"/>
                </a:solidFill>
                <a:latin typeface="Calibri" pitchFamily="34" charset="0"/>
                <a:ea typeface="Calibri" pitchFamily="34" charset="-122"/>
                <a:cs typeface="Calibri" pitchFamily="34" charset="-120"/>
              </a:rPr>
              <a:t>Also shown: seven-day sales chart and low-stock alerts</a:t>
            </a:r>
            <a:endParaRPr lang="en-US" sz="1000" dirty="0"/>
          </a:p>
        </p:txBody>
      </p:sp>
      <p:sp>
        <p:nvSpPr>
          <p:cNvPr id="21" name="Shape 19"/>
          <p:cNvSpPr/>
          <p:nvPr/>
        </p:nvSpPr>
        <p:spPr>
          <a:xfrm>
            <a:off x="5358384" y="1106424"/>
            <a:ext cx="3110079" cy="3456432"/>
          </a:xfrm>
          <a:prstGeom prst="rect">
            <a:avLst/>
          </a:prstGeom>
          <a:solidFill>
            <a:srgbClr val="FFFFFF"/>
          </a:solidFill>
          <a:ln w="12700">
            <a:solidFill>
              <a:srgbClr val="BBBBBB"/>
            </a:solidFill>
            <a:prstDash val="solid"/>
          </a:ln>
        </p:spPr>
      </p:sp>
      <p:pic>
        <p:nvPicPr>
          <p:cNvPr id="22" name="Image 0" descr="dash.jpg">    </p:cNvPr>
          <p:cNvPicPr>
            <a:picLocks noChangeAspect="1"/>
          </p:cNvPicPr>
          <p:nvPr/>
        </p:nvPicPr>
        <p:blipFill>
          <a:blip r:embed="rId1"/>
          <a:stretch>
            <a:fillRect/>
          </a:stretch>
        </p:blipFill>
        <p:spPr>
          <a:xfrm>
            <a:off x="5394960" y="1143000"/>
            <a:ext cx="3036927" cy="338328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444444"/>
          </a:solidFill>
          <a:ln w="12700">
            <a:solidFill>
              <a:srgbClr val="444444"/>
            </a:solidFill>
            <a:prstDash val="solid"/>
          </a:ln>
        </p:spPr>
      </p:sp>
      <p:sp>
        <p:nvSpPr>
          <p:cNvPr id="3" name="Text 1"/>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600" b="1" dirty="0">
                <a:solidFill>
                  <a:srgbClr val="000000"/>
                </a:solidFill>
                <a:latin typeface="Calibri" pitchFamily="34" charset="0"/>
                <a:ea typeface="Calibri" pitchFamily="34" charset="-122"/>
                <a:cs typeface="Calibri" pitchFamily="34" charset="-120"/>
              </a:rPr>
              <a:t>Product, Supplier &amp; Inventory Management</a:t>
            </a:r>
            <a:endParaRPr lang="en-US" sz="2600" dirty="0"/>
          </a:p>
        </p:txBody>
      </p:sp>
      <p:sp>
        <p:nvSpPr>
          <p:cNvPr id="4" name="Shape 2"/>
          <p:cNvSpPr/>
          <p:nvPr/>
        </p:nvSpPr>
        <p:spPr>
          <a:xfrm>
            <a:off x="457200" y="841248"/>
            <a:ext cx="731520" cy="45720"/>
          </a:xfrm>
          <a:prstGeom prst="rect">
            <a:avLst/>
          </a:prstGeom>
          <a:solidFill>
            <a:srgbClr val="444444"/>
          </a:solidFill>
          <a:ln w="12700">
            <a:solidFill>
              <a:srgbClr val="444444"/>
            </a:solidFill>
            <a:prstDash val="solid"/>
          </a:ln>
        </p:spPr>
      </p:sp>
      <p:sp>
        <p:nvSpPr>
          <p:cNvPr id="5" name="Text 3"/>
          <p:cNvSpPr txBox="1"/>
          <p:nvPr/>
        </p:nvSpPr>
        <p:spPr>
          <a:xfrm>
            <a:off x="457200" y="4800600"/>
            <a:ext cx="5486400" cy="228600"/>
          </a:xfrm>
          <a:prstGeom prst="rect">
            <a:avLst/>
          </a:prstGeom>
          <a:noFill/>
          <a:ln/>
        </p:spPr>
        <p:txBody>
          <a:bodyPr wrap="square" lIns="0" tIns="0" rIns="0" bIns="0" rtlCol="0" anchor="ctr"/>
          <a:lstStyle/>
          <a:p>
            <a:pPr indent="0" marL="0">
              <a:buNone/>
            </a:pPr>
            <a:r>
              <a:rPr lang="en-US" sz="900" dirty="0">
                <a:solidFill>
                  <a:srgbClr val="555555"/>
                </a:solidFill>
                <a:latin typeface="Calibri" pitchFamily="34" charset="0"/>
                <a:ea typeface="Calibri" pitchFamily="34" charset="-122"/>
                <a:cs typeface="Calibri" pitchFamily="34" charset="-120"/>
              </a:rPr>
              <a:t>StockPilot – Internship Presentation</a:t>
            </a:r>
            <a:endParaRPr lang="en-US" sz="900" dirty="0"/>
          </a:p>
        </p:txBody>
      </p:sp>
      <p:sp>
        <p:nvSpPr>
          <p:cNvPr id="6" name="Text 4"/>
          <p:cNvSpPr txBox="1"/>
          <p:nvPr/>
        </p:nvSpPr>
        <p:spPr>
          <a:xfrm>
            <a:off x="8229600" y="4800600"/>
            <a:ext cx="457200" cy="228600"/>
          </a:xfrm>
          <a:prstGeom prst="rect">
            <a:avLst/>
          </a:prstGeom>
          <a:noFill/>
          <a:ln/>
        </p:spPr>
        <p:txBody>
          <a:bodyPr wrap="square" lIns="0" tIns="0" rIns="0" bIns="0" rtlCol="0" anchor="ctr"/>
          <a:lstStyle/>
          <a:p>
            <a:pPr algn="r" indent="0" marL="0">
              <a:buNone/>
            </a:pPr>
            <a:r>
              <a:rPr lang="en-US" sz="900" dirty="0">
                <a:solidFill>
                  <a:srgbClr val="555555"/>
                </a:solidFill>
                <a:latin typeface="Calibri" pitchFamily="34" charset="0"/>
                <a:ea typeface="Calibri" pitchFamily="34" charset="-122"/>
                <a:cs typeface="Calibri" pitchFamily="34" charset="-120"/>
              </a:rPr>
              <a:t>6</a:t>
            </a:r>
            <a:endParaRPr lang="en-US" sz="900" dirty="0"/>
          </a:p>
        </p:txBody>
      </p:sp>
      <p:sp>
        <p:nvSpPr>
          <p:cNvPr id="7" name="Text 5"/>
          <p:cNvSpPr txBox="1"/>
          <p:nvPr/>
        </p:nvSpPr>
        <p:spPr>
          <a:xfrm>
            <a:off x="457200" y="1097280"/>
            <a:ext cx="4389120" cy="274320"/>
          </a:xfrm>
          <a:prstGeom prst="rect">
            <a:avLst/>
          </a:prstGeom>
          <a:noFill/>
          <a:ln/>
        </p:spPr>
        <p:txBody>
          <a:bodyPr wrap="square" lIns="0" tIns="0" rIns="0" bIns="0" rtlCol="0" anchor="ctr"/>
          <a:lstStyle/>
          <a:p>
            <a:pPr indent="0" marL="0">
              <a:buNone/>
            </a:pPr>
            <a:r>
              <a:rPr lang="en-US" sz="1400" b="1" dirty="0">
                <a:solidFill>
                  <a:srgbClr val="444444"/>
                </a:solidFill>
                <a:latin typeface="Calibri" pitchFamily="34" charset="0"/>
                <a:ea typeface="Calibri" pitchFamily="34" charset="-122"/>
                <a:cs typeface="Calibri" pitchFamily="34" charset="-120"/>
              </a:rPr>
              <a:t>Product Management</a:t>
            </a:r>
            <a:endParaRPr lang="en-US" sz="1400" dirty="0"/>
          </a:p>
        </p:txBody>
      </p:sp>
      <p:sp>
        <p:nvSpPr>
          <p:cNvPr id="8" name="Text 6"/>
          <p:cNvSpPr txBox="1"/>
          <p:nvPr/>
        </p:nvSpPr>
        <p:spPr>
          <a:xfrm>
            <a:off x="457200" y="1417320"/>
            <a:ext cx="4389120" cy="731520"/>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1A1A1A"/>
                </a:solidFill>
                <a:latin typeface="Calibri" pitchFamily="34" charset="0"/>
                <a:ea typeface="Calibri" pitchFamily="34" charset="-122"/>
                <a:cs typeface="Calibri" pitchFamily="34" charset="-120"/>
              </a:rPr>
              <a:t>Add, search, edit, and delete products</a:t>
            </a:r>
            <a:endParaRPr lang="en-US" sz="1150" dirty="0"/>
          </a:p>
          <a:p>
            <a:pPr marL="342900" indent="-342900">
              <a:spcAft>
                <a:spcPts val="600"/>
              </a:spcAft>
              <a:buSzPct val="100000"/>
              <a:buChar char="•"/>
            </a:pPr>
            <a:r>
              <a:rPr lang="en-US" sz="1150" dirty="0">
                <a:solidFill>
                  <a:srgbClr val="1A1A1A"/>
                </a:solidFill>
                <a:latin typeface="Calibri" pitchFamily="34" charset="0"/>
                <a:ea typeface="Calibri" pitchFamily="34" charset="-122"/>
                <a:cs typeface="Calibri" pitchFamily="34" charset="-120"/>
              </a:rPr>
              <a:t>View category, price, stock quantity, and supplier</a:t>
            </a:r>
            <a:endParaRPr lang="en-US" sz="1150" dirty="0"/>
          </a:p>
        </p:txBody>
      </p:sp>
      <p:sp>
        <p:nvSpPr>
          <p:cNvPr id="9" name="Text 7"/>
          <p:cNvSpPr txBox="1"/>
          <p:nvPr/>
        </p:nvSpPr>
        <p:spPr>
          <a:xfrm>
            <a:off x="457200" y="2240280"/>
            <a:ext cx="4389120" cy="274320"/>
          </a:xfrm>
          <a:prstGeom prst="rect">
            <a:avLst/>
          </a:prstGeom>
          <a:noFill/>
          <a:ln/>
        </p:spPr>
        <p:txBody>
          <a:bodyPr wrap="square" lIns="0" tIns="0" rIns="0" bIns="0" rtlCol="0" anchor="ctr"/>
          <a:lstStyle/>
          <a:p>
            <a:pPr indent="0" marL="0">
              <a:buNone/>
            </a:pPr>
            <a:r>
              <a:rPr lang="en-US" sz="1400" b="1" dirty="0">
                <a:solidFill>
                  <a:srgbClr val="444444"/>
                </a:solidFill>
                <a:latin typeface="Calibri" pitchFamily="34" charset="0"/>
                <a:ea typeface="Calibri" pitchFamily="34" charset="-122"/>
                <a:cs typeface="Calibri" pitchFamily="34" charset="-120"/>
              </a:rPr>
              <a:t>Supplier Management</a:t>
            </a:r>
            <a:endParaRPr lang="en-US" sz="1400" dirty="0"/>
          </a:p>
        </p:txBody>
      </p:sp>
      <p:sp>
        <p:nvSpPr>
          <p:cNvPr id="10" name="Text 8"/>
          <p:cNvSpPr txBox="1"/>
          <p:nvPr/>
        </p:nvSpPr>
        <p:spPr>
          <a:xfrm>
            <a:off x="457200" y="2560320"/>
            <a:ext cx="4389120" cy="731520"/>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1A1A1A"/>
                </a:solidFill>
                <a:latin typeface="Calibri" pitchFamily="34" charset="0"/>
                <a:ea typeface="Calibri" pitchFamily="34" charset="-122"/>
                <a:cs typeface="Calibri" pitchFamily="34" charset="-120"/>
              </a:rPr>
              <a:t>Maintain supplier company and contact details</a:t>
            </a:r>
            <a:endParaRPr lang="en-US" sz="1150" dirty="0"/>
          </a:p>
        </p:txBody>
      </p:sp>
      <p:sp>
        <p:nvSpPr>
          <p:cNvPr id="11" name="Text 9"/>
          <p:cNvSpPr txBox="1"/>
          <p:nvPr/>
        </p:nvSpPr>
        <p:spPr>
          <a:xfrm>
            <a:off x="457200" y="3383280"/>
            <a:ext cx="4389120" cy="274320"/>
          </a:xfrm>
          <a:prstGeom prst="rect">
            <a:avLst/>
          </a:prstGeom>
          <a:noFill/>
          <a:ln/>
        </p:spPr>
        <p:txBody>
          <a:bodyPr wrap="square" lIns="0" tIns="0" rIns="0" bIns="0" rtlCol="0" anchor="ctr"/>
          <a:lstStyle/>
          <a:p>
            <a:pPr indent="0" marL="0">
              <a:buNone/>
            </a:pPr>
            <a:r>
              <a:rPr lang="en-US" sz="1400" b="1" dirty="0">
                <a:solidFill>
                  <a:srgbClr val="444444"/>
                </a:solidFill>
                <a:latin typeface="Calibri" pitchFamily="34" charset="0"/>
                <a:ea typeface="Calibri" pitchFamily="34" charset="-122"/>
                <a:cs typeface="Calibri" pitchFamily="34" charset="-120"/>
              </a:rPr>
              <a:t>Inventory Control</a:t>
            </a:r>
            <a:endParaRPr lang="en-US" sz="1400" dirty="0"/>
          </a:p>
        </p:txBody>
      </p:sp>
      <p:sp>
        <p:nvSpPr>
          <p:cNvPr id="12" name="Text 10"/>
          <p:cNvSpPr txBox="1"/>
          <p:nvPr/>
        </p:nvSpPr>
        <p:spPr>
          <a:xfrm>
            <a:off x="457200" y="3703320"/>
            <a:ext cx="4389120" cy="731520"/>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1A1A1A"/>
                </a:solidFill>
                <a:latin typeface="Calibri" pitchFamily="34" charset="0"/>
                <a:ea typeface="Calibri" pitchFamily="34" charset="-122"/>
                <a:cs typeface="Calibri" pitchFamily="34" charset="-120"/>
              </a:rPr>
              <a:t>Track stock additions, reductions, and sales</a:t>
            </a:r>
            <a:endParaRPr lang="en-US" sz="1150" dirty="0"/>
          </a:p>
          <a:p>
            <a:pPr marL="342900" indent="-342900">
              <a:spcAft>
                <a:spcPts val="600"/>
              </a:spcAft>
              <a:buSzPct val="100000"/>
              <a:buChar char="•"/>
            </a:pPr>
            <a:r>
              <a:rPr lang="en-US" sz="1150" dirty="0">
                <a:solidFill>
                  <a:srgbClr val="1A1A1A"/>
                </a:solidFill>
                <a:latin typeface="Calibri" pitchFamily="34" charset="0"/>
                <a:ea typeface="Calibri" pitchFamily="34" charset="-122"/>
                <a:cs typeface="Calibri" pitchFamily="34" charset="-120"/>
              </a:rPr>
              <a:t>View previous and updated quantities</a:t>
            </a:r>
            <a:endParaRPr lang="en-US" sz="1150" dirty="0"/>
          </a:p>
        </p:txBody>
      </p:sp>
      <p:sp>
        <p:nvSpPr>
          <p:cNvPr id="13" name="Shape 11"/>
          <p:cNvSpPr/>
          <p:nvPr/>
        </p:nvSpPr>
        <p:spPr>
          <a:xfrm>
            <a:off x="4901184" y="1060704"/>
            <a:ext cx="1777855" cy="1399032"/>
          </a:xfrm>
          <a:prstGeom prst="rect">
            <a:avLst/>
          </a:prstGeom>
          <a:solidFill>
            <a:srgbClr val="FFFFFF"/>
          </a:solidFill>
          <a:ln w="12700">
            <a:solidFill>
              <a:srgbClr val="BBBBBB"/>
            </a:solidFill>
            <a:prstDash val="solid"/>
          </a:ln>
        </p:spPr>
      </p:sp>
      <p:pic>
        <p:nvPicPr>
          <p:cNvPr id="14" name="Image 0" descr="prod.png">    </p:cNvPr>
          <p:cNvPicPr>
            <a:picLocks noChangeAspect="1"/>
          </p:cNvPicPr>
          <p:nvPr/>
        </p:nvPicPr>
        <p:blipFill>
          <a:blip r:embed="rId1"/>
          <a:stretch>
            <a:fillRect/>
          </a:stretch>
        </p:blipFill>
        <p:spPr>
          <a:xfrm>
            <a:off x="4937760" y="1097280"/>
            <a:ext cx="1704703" cy="1325880"/>
          </a:xfrm>
          <a:prstGeom prst="rect">
            <a:avLst/>
          </a:prstGeom>
        </p:spPr>
      </p:pic>
      <p:sp>
        <p:nvSpPr>
          <p:cNvPr id="15" name="Text 12"/>
          <p:cNvSpPr txBox="1"/>
          <p:nvPr/>
        </p:nvSpPr>
        <p:spPr>
          <a:xfrm>
            <a:off x="4937760" y="2542032"/>
            <a:ext cx="1704703" cy="201168"/>
          </a:xfrm>
          <a:prstGeom prst="rect">
            <a:avLst/>
          </a:prstGeom>
          <a:noFill/>
          <a:ln/>
        </p:spPr>
        <p:txBody>
          <a:bodyPr wrap="square" lIns="0" tIns="0" rIns="0" bIns="0" rtlCol="0" anchor="ctr"/>
          <a:lstStyle/>
          <a:p>
            <a:pPr algn="ctr" indent="0" marL="0">
              <a:buNone/>
            </a:pPr>
            <a:r>
              <a:rPr lang="en-US" sz="900" i="1" dirty="0">
                <a:solidFill>
                  <a:srgbClr val="555555"/>
                </a:solidFill>
                <a:latin typeface="Calibri" pitchFamily="34" charset="0"/>
                <a:ea typeface="Calibri" pitchFamily="34" charset="-122"/>
                <a:cs typeface="Calibri" pitchFamily="34" charset="-120"/>
              </a:rPr>
              <a:t>Products</a:t>
            </a:r>
            <a:endParaRPr lang="en-US" sz="900" dirty="0"/>
          </a:p>
        </p:txBody>
      </p:sp>
      <p:sp>
        <p:nvSpPr>
          <p:cNvPr id="16" name="Shape 13"/>
          <p:cNvSpPr/>
          <p:nvPr/>
        </p:nvSpPr>
        <p:spPr>
          <a:xfrm>
            <a:off x="6912864" y="1060704"/>
            <a:ext cx="1786559" cy="1399032"/>
          </a:xfrm>
          <a:prstGeom prst="rect">
            <a:avLst/>
          </a:prstGeom>
          <a:solidFill>
            <a:srgbClr val="FFFFFF"/>
          </a:solidFill>
          <a:ln w="12700">
            <a:solidFill>
              <a:srgbClr val="BBBBBB"/>
            </a:solidFill>
            <a:prstDash val="solid"/>
          </a:ln>
        </p:spPr>
      </p:sp>
      <p:pic>
        <p:nvPicPr>
          <p:cNvPr id="17" name="Image 1" descr="sup.png">    </p:cNvPr>
          <p:cNvPicPr>
            <a:picLocks noChangeAspect="1"/>
          </p:cNvPicPr>
          <p:nvPr/>
        </p:nvPicPr>
        <p:blipFill>
          <a:blip r:embed="rId2"/>
          <a:stretch>
            <a:fillRect/>
          </a:stretch>
        </p:blipFill>
        <p:spPr>
          <a:xfrm>
            <a:off x="6949440" y="1097280"/>
            <a:ext cx="1713407" cy="1325880"/>
          </a:xfrm>
          <a:prstGeom prst="rect">
            <a:avLst/>
          </a:prstGeom>
        </p:spPr>
      </p:pic>
      <p:sp>
        <p:nvSpPr>
          <p:cNvPr id="18" name="Text 14"/>
          <p:cNvSpPr txBox="1"/>
          <p:nvPr/>
        </p:nvSpPr>
        <p:spPr>
          <a:xfrm>
            <a:off x="6949440" y="2542032"/>
            <a:ext cx="1713407" cy="201168"/>
          </a:xfrm>
          <a:prstGeom prst="rect">
            <a:avLst/>
          </a:prstGeom>
          <a:noFill/>
          <a:ln/>
        </p:spPr>
        <p:txBody>
          <a:bodyPr wrap="square" lIns="0" tIns="0" rIns="0" bIns="0" rtlCol="0" anchor="ctr"/>
          <a:lstStyle/>
          <a:p>
            <a:pPr algn="ctr" indent="0" marL="0">
              <a:buNone/>
            </a:pPr>
            <a:r>
              <a:rPr lang="en-US" sz="900" i="1" dirty="0">
                <a:solidFill>
                  <a:srgbClr val="555555"/>
                </a:solidFill>
                <a:latin typeface="Calibri" pitchFamily="34" charset="0"/>
                <a:ea typeface="Calibri" pitchFamily="34" charset="-122"/>
                <a:cs typeface="Calibri" pitchFamily="34" charset="-120"/>
              </a:rPr>
              <a:t>Suppliers</a:t>
            </a:r>
            <a:endParaRPr lang="en-US" sz="900" dirty="0"/>
          </a:p>
        </p:txBody>
      </p:sp>
      <p:sp>
        <p:nvSpPr>
          <p:cNvPr id="19" name="Shape 15"/>
          <p:cNvSpPr/>
          <p:nvPr/>
        </p:nvSpPr>
        <p:spPr>
          <a:xfrm>
            <a:off x="5907024" y="2798064"/>
            <a:ext cx="1700512" cy="1673352"/>
          </a:xfrm>
          <a:prstGeom prst="rect">
            <a:avLst/>
          </a:prstGeom>
          <a:solidFill>
            <a:srgbClr val="FFFFFF"/>
          </a:solidFill>
          <a:ln w="12700">
            <a:solidFill>
              <a:srgbClr val="BBBBBB"/>
            </a:solidFill>
            <a:prstDash val="solid"/>
          </a:ln>
        </p:spPr>
      </p:sp>
      <p:pic>
        <p:nvPicPr>
          <p:cNvPr id="20" name="Image 2" descr="inv2.png">    </p:cNvPr>
          <p:cNvPicPr>
            <a:picLocks noChangeAspect="1"/>
          </p:cNvPicPr>
          <p:nvPr/>
        </p:nvPicPr>
        <p:blipFill>
          <a:blip r:embed="rId3"/>
          <a:stretch>
            <a:fillRect/>
          </a:stretch>
        </p:blipFill>
        <p:spPr>
          <a:xfrm>
            <a:off x="5943600" y="2834640"/>
            <a:ext cx="1627360" cy="1600200"/>
          </a:xfrm>
          <a:prstGeom prst="rect">
            <a:avLst/>
          </a:prstGeom>
        </p:spPr>
      </p:pic>
      <p:sp>
        <p:nvSpPr>
          <p:cNvPr id="21" name="Text 16"/>
          <p:cNvSpPr txBox="1"/>
          <p:nvPr/>
        </p:nvSpPr>
        <p:spPr>
          <a:xfrm>
            <a:off x="5943600" y="4498848"/>
            <a:ext cx="1627360" cy="201168"/>
          </a:xfrm>
          <a:prstGeom prst="rect">
            <a:avLst/>
          </a:prstGeom>
          <a:noFill/>
          <a:ln/>
        </p:spPr>
        <p:txBody>
          <a:bodyPr wrap="square" lIns="0" tIns="0" rIns="0" bIns="0" rtlCol="0" anchor="ctr"/>
          <a:lstStyle/>
          <a:p>
            <a:pPr algn="ctr" indent="0" marL="0">
              <a:buNone/>
            </a:pPr>
            <a:r>
              <a:rPr lang="en-US" sz="900" i="1" dirty="0">
                <a:solidFill>
                  <a:srgbClr val="555555"/>
                </a:solidFill>
                <a:latin typeface="Calibri" pitchFamily="34" charset="0"/>
                <a:ea typeface="Calibri" pitchFamily="34" charset="-122"/>
                <a:cs typeface="Calibri" pitchFamily="34" charset="-120"/>
              </a:rPr>
              <a:t>Inventory Control</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444444"/>
          </a:solidFill>
          <a:ln w="12700">
            <a:solidFill>
              <a:srgbClr val="444444"/>
            </a:solidFill>
            <a:prstDash val="solid"/>
          </a:ln>
        </p:spPr>
      </p:sp>
      <p:sp>
        <p:nvSpPr>
          <p:cNvPr id="3" name="Text 1"/>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600" b="1" dirty="0">
                <a:solidFill>
                  <a:srgbClr val="000000"/>
                </a:solidFill>
                <a:latin typeface="Calibri" pitchFamily="34" charset="0"/>
                <a:ea typeface="Calibri" pitchFamily="34" charset="-122"/>
                <a:cs typeface="Calibri" pitchFamily="34" charset="-120"/>
              </a:rPr>
              <a:t>Sales, Reports &amp; Data Export</a:t>
            </a:r>
            <a:endParaRPr lang="en-US" sz="2600" dirty="0"/>
          </a:p>
        </p:txBody>
      </p:sp>
      <p:sp>
        <p:nvSpPr>
          <p:cNvPr id="4" name="Shape 2"/>
          <p:cNvSpPr/>
          <p:nvPr/>
        </p:nvSpPr>
        <p:spPr>
          <a:xfrm>
            <a:off x="457200" y="841248"/>
            <a:ext cx="731520" cy="45720"/>
          </a:xfrm>
          <a:prstGeom prst="rect">
            <a:avLst/>
          </a:prstGeom>
          <a:solidFill>
            <a:srgbClr val="444444"/>
          </a:solidFill>
          <a:ln w="12700">
            <a:solidFill>
              <a:srgbClr val="444444"/>
            </a:solidFill>
            <a:prstDash val="solid"/>
          </a:ln>
        </p:spPr>
      </p:sp>
      <p:sp>
        <p:nvSpPr>
          <p:cNvPr id="5" name="Text 3"/>
          <p:cNvSpPr txBox="1"/>
          <p:nvPr/>
        </p:nvSpPr>
        <p:spPr>
          <a:xfrm>
            <a:off x="457200" y="4800600"/>
            <a:ext cx="5486400" cy="228600"/>
          </a:xfrm>
          <a:prstGeom prst="rect">
            <a:avLst/>
          </a:prstGeom>
          <a:noFill/>
          <a:ln/>
        </p:spPr>
        <p:txBody>
          <a:bodyPr wrap="square" lIns="0" tIns="0" rIns="0" bIns="0" rtlCol="0" anchor="ctr"/>
          <a:lstStyle/>
          <a:p>
            <a:pPr indent="0" marL="0">
              <a:buNone/>
            </a:pPr>
            <a:r>
              <a:rPr lang="en-US" sz="900" dirty="0">
                <a:solidFill>
                  <a:srgbClr val="555555"/>
                </a:solidFill>
                <a:latin typeface="Calibri" pitchFamily="34" charset="0"/>
                <a:ea typeface="Calibri" pitchFamily="34" charset="-122"/>
                <a:cs typeface="Calibri" pitchFamily="34" charset="-120"/>
              </a:rPr>
              <a:t>StockPilot – Internship Presentation</a:t>
            </a:r>
            <a:endParaRPr lang="en-US" sz="900" dirty="0"/>
          </a:p>
        </p:txBody>
      </p:sp>
      <p:sp>
        <p:nvSpPr>
          <p:cNvPr id="6" name="Text 4"/>
          <p:cNvSpPr txBox="1"/>
          <p:nvPr/>
        </p:nvSpPr>
        <p:spPr>
          <a:xfrm>
            <a:off x="8229600" y="4800600"/>
            <a:ext cx="457200" cy="228600"/>
          </a:xfrm>
          <a:prstGeom prst="rect">
            <a:avLst/>
          </a:prstGeom>
          <a:noFill/>
          <a:ln/>
        </p:spPr>
        <p:txBody>
          <a:bodyPr wrap="square" lIns="0" tIns="0" rIns="0" bIns="0" rtlCol="0" anchor="ctr"/>
          <a:lstStyle/>
          <a:p>
            <a:pPr algn="r" indent="0" marL="0">
              <a:buNone/>
            </a:pPr>
            <a:r>
              <a:rPr lang="en-US" sz="900" dirty="0">
                <a:solidFill>
                  <a:srgbClr val="555555"/>
                </a:solidFill>
                <a:latin typeface="Calibri" pitchFamily="34" charset="0"/>
                <a:ea typeface="Calibri" pitchFamily="34" charset="-122"/>
                <a:cs typeface="Calibri" pitchFamily="34" charset="-120"/>
              </a:rPr>
              <a:t>7</a:t>
            </a:r>
            <a:endParaRPr lang="en-US" sz="900" dirty="0"/>
          </a:p>
        </p:txBody>
      </p:sp>
      <p:sp>
        <p:nvSpPr>
          <p:cNvPr id="7" name="Text 5"/>
          <p:cNvSpPr txBox="1"/>
          <p:nvPr/>
        </p:nvSpPr>
        <p:spPr>
          <a:xfrm>
            <a:off x="457200" y="1097280"/>
            <a:ext cx="4114800" cy="274320"/>
          </a:xfrm>
          <a:prstGeom prst="rect">
            <a:avLst/>
          </a:prstGeom>
          <a:noFill/>
          <a:ln/>
        </p:spPr>
        <p:txBody>
          <a:bodyPr wrap="square" lIns="0" tIns="0" rIns="0" bIns="0" rtlCol="0" anchor="ctr"/>
          <a:lstStyle/>
          <a:p>
            <a:pPr indent="0" marL="0">
              <a:buNone/>
            </a:pPr>
            <a:r>
              <a:rPr lang="en-US" sz="1400" b="1" dirty="0">
                <a:solidFill>
                  <a:srgbClr val="444444"/>
                </a:solidFill>
                <a:latin typeface="Calibri" pitchFamily="34" charset="0"/>
                <a:ea typeface="Calibri" pitchFamily="34" charset="-122"/>
                <a:cs typeface="Calibri" pitchFamily="34" charset="-120"/>
              </a:rPr>
              <a:t>Sales Management</a:t>
            </a:r>
            <a:endParaRPr lang="en-US" sz="1400" dirty="0"/>
          </a:p>
        </p:txBody>
      </p:sp>
      <p:sp>
        <p:nvSpPr>
          <p:cNvPr id="8" name="Text 6"/>
          <p:cNvSpPr txBox="1"/>
          <p:nvPr/>
        </p:nvSpPr>
        <p:spPr>
          <a:xfrm>
            <a:off x="457200" y="1417320"/>
            <a:ext cx="4114800" cy="1097280"/>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1A1A1A"/>
                </a:solidFill>
                <a:latin typeface="Calibri" pitchFamily="34" charset="0"/>
                <a:ea typeface="Calibri" pitchFamily="34" charset="-122"/>
                <a:cs typeface="Calibri" pitchFamily="34" charset="-120"/>
              </a:rPr>
              <a:t>Record product sales and quantities</a:t>
            </a:r>
            <a:endParaRPr lang="en-US" sz="1150" dirty="0"/>
          </a:p>
          <a:p>
            <a:pPr marL="342900" indent="-342900">
              <a:spcAft>
                <a:spcPts val="600"/>
              </a:spcAft>
              <a:buSzPct val="100000"/>
              <a:buChar char="•"/>
            </a:pPr>
            <a:r>
              <a:rPr lang="en-US" sz="1150" dirty="0">
                <a:solidFill>
                  <a:srgbClr val="1A1A1A"/>
                </a:solidFill>
                <a:latin typeface="Calibri" pitchFamily="34" charset="0"/>
                <a:ea typeface="Calibri" pitchFamily="34" charset="-122"/>
                <a:cs typeface="Calibri" pitchFamily="34" charset="-120"/>
              </a:rPr>
              <a:t>Display unit price and total sales amount</a:t>
            </a:r>
            <a:endParaRPr lang="en-US" sz="1150" dirty="0"/>
          </a:p>
          <a:p>
            <a:pPr marL="342900" indent="-342900">
              <a:spcAft>
                <a:spcPts val="600"/>
              </a:spcAft>
              <a:buSzPct val="100000"/>
              <a:buChar char="•"/>
            </a:pPr>
            <a:r>
              <a:rPr lang="en-US" sz="1150" dirty="0">
                <a:solidFill>
                  <a:srgbClr val="1A1A1A"/>
                </a:solidFill>
                <a:latin typeface="Calibri" pitchFamily="34" charset="0"/>
                <a:ea typeface="Calibri" pitchFamily="34" charset="-122"/>
                <a:cs typeface="Calibri" pitchFamily="34" charset="-120"/>
              </a:rPr>
              <a:t>Track inventory changes linked to sales</a:t>
            </a:r>
            <a:endParaRPr lang="en-US" sz="1150" dirty="0"/>
          </a:p>
        </p:txBody>
      </p:sp>
      <p:sp>
        <p:nvSpPr>
          <p:cNvPr id="9" name="Text 7"/>
          <p:cNvSpPr txBox="1"/>
          <p:nvPr/>
        </p:nvSpPr>
        <p:spPr>
          <a:xfrm>
            <a:off x="457200" y="2606040"/>
            <a:ext cx="4114800" cy="274320"/>
          </a:xfrm>
          <a:prstGeom prst="rect">
            <a:avLst/>
          </a:prstGeom>
          <a:noFill/>
          <a:ln/>
        </p:spPr>
        <p:txBody>
          <a:bodyPr wrap="square" lIns="0" tIns="0" rIns="0" bIns="0" rtlCol="0" anchor="ctr"/>
          <a:lstStyle/>
          <a:p>
            <a:pPr indent="0" marL="0">
              <a:buNone/>
            </a:pPr>
            <a:r>
              <a:rPr lang="en-US" sz="1400" b="1" dirty="0">
                <a:solidFill>
                  <a:srgbClr val="444444"/>
                </a:solidFill>
                <a:latin typeface="Calibri" pitchFamily="34" charset="0"/>
                <a:ea typeface="Calibri" pitchFamily="34" charset="-122"/>
                <a:cs typeface="Calibri" pitchFamily="34" charset="-120"/>
              </a:rPr>
              <a:t>Reports</a:t>
            </a:r>
            <a:endParaRPr lang="en-US" sz="1400" dirty="0"/>
          </a:p>
        </p:txBody>
      </p:sp>
      <p:sp>
        <p:nvSpPr>
          <p:cNvPr id="10" name="Text 8"/>
          <p:cNvSpPr txBox="1"/>
          <p:nvPr/>
        </p:nvSpPr>
        <p:spPr>
          <a:xfrm>
            <a:off x="457200" y="2926080"/>
            <a:ext cx="4114800" cy="1463040"/>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1A1A1A"/>
                </a:solidFill>
                <a:latin typeface="Calibri" pitchFamily="34" charset="0"/>
                <a:ea typeface="Calibri" pitchFamily="34" charset="-122"/>
                <a:cs typeface="Calibri" pitchFamily="34" charset="-120"/>
              </a:rPr>
              <a:t>Daily reports</a:t>
            </a:r>
            <a:endParaRPr lang="en-US" sz="1150" dirty="0"/>
          </a:p>
          <a:p>
            <a:pPr marL="342900" indent="-342900">
              <a:spcAft>
                <a:spcPts val="600"/>
              </a:spcAft>
              <a:buSzPct val="100000"/>
              <a:buChar char="•"/>
            </a:pPr>
            <a:r>
              <a:rPr lang="en-US" sz="1150" dirty="0">
                <a:solidFill>
                  <a:srgbClr val="1A1A1A"/>
                </a:solidFill>
                <a:latin typeface="Calibri" pitchFamily="34" charset="0"/>
                <a:ea typeface="Calibri" pitchFamily="34" charset="-122"/>
                <a:cs typeface="Calibri" pitchFamily="34" charset="-120"/>
              </a:rPr>
              <a:t>Monthly reports</a:t>
            </a:r>
            <a:endParaRPr lang="en-US" sz="1150" dirty="0"/>
          </a:p>
          <a:p>
            <a:pPr marL="342900" indent="-342900">
              <a:spcAft>
                <a:spcPts val="600"/>
              </a:spcAft>
              <a:buSzPct val="100000"/>
              <a:buChar char="•"/>
            </a:pPr>
            <a:r>
              <a:rPr lang="en-US" sz="1150" dirty="0">
                <a:solidFill>
                  <a:srgbClr val="1A1A1A"/>
                </a:solidFill>
                <a:latin typeface="Calibri" pitchFamily="34" charset="0"/>
                <a:ea typeface="Calibri" pitchFamily="34" charset="-122"/>
                <a:cs typeface="Calibri" pitchFamily="34" charset="-120"/>
              </a:rPr>
              <a:t>Product-wise reports</a:t>
            </a:r>
            <a:endParaRPr lang="en-US" sz="1150" dirty="0"/>
          </a:p>
          <a:p>
            <a:pPr marL="342900" indent="-342900">
              <a:spcAft>
                <a:spcPts val="600"/>
              </a:spcAft>
              <a:buSzPct val="100000"/>
              <a:buChar char="•"/>
            </a:pPr>
            <a:r>
              <a:rPr lang="en-US" sz="1150" dirty="0">
                <a:solidFill>
                  <a:srgbClr val="1A1A1A"/>
                </a:solidFill>
                <a:latin typeface="Calibri" pitchFamily="34" charset="0"/>
                <a:ea typeface="Calibri" pitchFamily="34" charset="-122"/>
                <a:cs typeface="Calibri" pitchFamily="34" charset="-120"/>
              </a:rPr>
              <a:t>CSV export for spreadsheet analysis</a:t>
            </a:r>
            <a:endParaRPr lang="en-US" sz="1150" dirty="0"/>
          </a:p>
        </p:txBody>
      </p:sp>
      <p:sp>
        <p:nvSpPr>
          <p:cNvPr id="11" name="Shape 9"/>
          <p:cNvSpPr/>
          <p:nvPr/>
        </p:nvSpPr>
        <p:spPr>
          <a:xfrm>
            <a:off x="5449824" y="1014984"/>
            <a:ext cx="2809494" cy="1636776"/>
          </a:xfrm>
          <a:prstGeom prst="rect">
            <a:avLst/>
          </a:prstGeom>
          <a:solidFill>
            <a:srgbClr val="FFFFFF"/>
          </a:solidFill>
          <a:ln w="12700">
            <a:solidFill>
              <a:srgbClr val="BBBBBB"/>
            </a:solidFill>
            <a:prstDash val="solid"/>
          </a:ln>
        </p:spPr>
      </p:sp>
      <p:pic>
        <p:nvPicPr>
          <p:cNvPr id="12" name="Image 0" descr="sales.png">    </p:cNvPr>
          <p:cNvPicPr>
            <a:picLocks noChangeAspect="1"/>
          </p:cNvPicPr>
          <p:nvPr/>
        </p:nvPicPr>
        <p:blipFill>
          <a:blip r:embed="rId1"/>
          <a:stretch>
            <a:fillRect/>
          </a:stretch>
        </p:blipFill>
        <p:spPr>
          <a:xfrm>
            <a:off x="5486400" y="1051560"/>
            <a:ext cx="2736342" cy="1563624"/>
          </a:xfrm>
          <a:prstGeom prst="rect">
            <a:avLst/>
          </a:prstGeom>
        </p:spPr>
      </p:pic>
      <p:sp>
        <p:nvSpPr>
          <p:cNvPr id="13" name="Text 10"/>
          <p:cNvSpPr txBox="1"/>
          <p:nvPr/>
        </p:nvSpPr>
        <p:spPr>
          <a:xfrm>
            <a:off x="5486400" y="2688336"/>
            <a:ext cx="2743200" cy="201168"/>
          </a:xfrm>
          <a:prstGeom prst="rect">
            <a:avLst/>
          </a:prstGeom>
          <a:noFill/>
          <a:ln/>
        </p:spPr>
        <p:txBody>
          <a:bodyPr wrap="square" lIns="0" tIns="0" rIns="0" bIns="0" rtlCol="0" anchor="ctr"/>
          <a:lstStyle/>
          <a:p>
            <a:pPr algn="ctr" indent="0" marL="0">
              <a:buNone/>
            </a:pPr>
            <a:r>
              <a:rPr lang="en-US" sz="900" i="1" dirty="0">
                <a:solidFill>
                  <a:srgbClr val="555555"/>
                </a:solidFill>
                <a:latin typeface="Calibri" pitchFamily="34" charset="0"/>
                <a:ea typeface="Calibri" pitchFamily="34" charset="-122"/>
                <a:cs typeface="Calibri" pitchFamily="34" charset="-120"/>
              </a:rPr>
              <a:t>Sales</a:t>
            </a:r>
            <a:endParaRPr lang="en-US" sz="900" dirty="0"/>
          </a:p>
        </p:txBody>
      </p:sp>
      <p:sp>
        <p:nvSpPr>
          <p:cNvPr id="14" name="Shape 11"/>
          <p:cNvSpPr/>
          <p:nvPr/>
        </p:nvSpPr>
        <p:spPr>
          <a:xfrm>
            <a:off x="5815584" y="3026664"/>
            <a:ext cx="2093218" cy="1600200"/>
          </a:xfrm>
          <a:prstGeom prst="rect">
            <a:avLst/>
          </a:prstGeom>
          <a:solidFill>
            <a:srgbClr val="FFFFFF"/>
          </a:solidFill>
          <a:ln w="12700">
            <a:solidFill>
              <a:srgbClr val="BBBBBB"/>
            </a:solidFill>
            <a:prstDash val="solid"/>
          </a:ln>
        </p:spPr>
      </p:sp>
      <p:pic>
        <p:nvPicPr>
          <p:cNvPr id="15" name="Image 1" descr="rep.png">    </p:cNvPr>
          <p:cNvPicPr>
            <a:picLocks noChangeAspect="1"/>
          </p:cNvPicPr>
          <p:nvPr/>
        </p:nvPicPr>
        <p:blipFill>
          <a:blip r:embed="rId2"/>
          <a:stretch>
            <a:fillRect/>
          </a:stretch>
        </p:blipFill>
        <p:spPr>
          <a:xfrm>
            <a:off x="5852160" y="3063240"/>
            <a:ext cx="2020066" cy="1527048"/>
          </a:xfrm>
          <a:prstGeom prst="rect">
            <a:avLst/>
          </a:prstGeom>
        </p:spPr>
      </p:pic>
      <p:sp>
        <p:nvSpPr>
          <p:cNvPr id="16" name="Text 12"/>
          <p:cNvSpPr txBox="1"/>
          <p:nvPr/>
        </p:nvSpPr>
        <p:spPr>
          <a:xfrm>
            <a:off x="5852160" y="4608576"/>
            <a:ext cx="2011680" cy="182880"/>
          </a:xfrm>
          <a:prstGeom prst="rect">
            <a:avLst/>
          </a:prstGeom>
          <a:noFill/>
          <a:ln/>
        </p:spPr>
        <p:txBody>
          <a:bodyPr wrap="square" lIns="0" tIns="0" rIns="0" bIns="0" rtlCol="0" anchor="ctr"/>
          <a:lstStyle/>
          <a:p>
            <a:pPr algn="ctr" indent="0" marL="0">
              <a:buNone/>
            </a:pPr>
            <a:r>
              <a:rPr lang="en-US" sz="900" i="1" dirty="0">
                <a:solidFill>
                  <a:srgbClr val="555555"/>
                </a:solidFill>
                <a:latin typeface="Calibri" pitchFamily="34" charset="0"/>
                <a:ea typeface="Calibri" pitchFamily="34" charset="-122"/>
                <a:cs typeface="Calibri" pitchFamily="34" charset="-120"/>
              </a:rPr>
              <a:t>Reports (Daily)</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444444"/>
          </a:solidFill>
          <a:ln w="12700">
            <a:solidFill>
              <a:srgbClr val="444444"/>
            </a:solidFill>
            <a:prstDash val="solid"/>
          </a:ln>
        </p:spPr>
      </p:sp>
      <p:sp>
        <p:nvSpPr>
          <p:cNvPr id="3" name="Text 1"/>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600" b="1" dirty="0">
                <a:solidFill>
                  <a:srgbClr val="000000"/>
                </a:solidFill>
                <a:latin typeface="Calibri" pitchFamily="34" charset="0"/>
                <a:ea typeface="Calibri" pitchFamily="34" charset="-122"/>
                <a:cs typeface="Calibri" pitchFamily="34" charset="-120"/>
              </a:rPr>
              <a:t>AI Demand Predictions</a:t>
            </a:r>
            <a:endParaRPr lang="en-US" sz="2600" dirty="0"/>
          </a:p>
        </p:txBody>
      </p:sp>
      <p:sp>
        <p:nvSpPr>
          <p:cNvPr id="4" name="Shape 2"/>
          <p:cNvSpPr/>
          <p:nvPr/>
        </p:nvSpPr>
        <p:spPr>
          <a:xfrm>
            <a:off x="457200" y="841248"/>
            <a:ext cx="731520" cy="45720"/>
          </a:xfrm>
          <a:prstGeom prst="rect">
            <a:avLst/>
          </a:prstGeom>
          <a:solidFill>
            <a:srgbClr val="444444"/>
          </a:solidFill>
          <a:ln w="12700">
            <a:solidFill>
              <a:srgbClr val="444444"/>
            </a:solidFill>
            <a:prstDash val="solid"/>
          </a:ln>
        </p:spPr>
      </p:sp>
      <p:sp>
        <p:nvSpPr>
          <p:cNvPr id="5" name="Text 3"/>
          <p:cNvSpPr txBox="1"/>
          <p:nvPr/>
        </p:nvSpPr>
        <p:spPr>
          <a:xfrm>
            <a:off x="457200" y="4800600"/>
            <a:ext cx="5486400" cy="228600"/>
          </a:xfrm>
          <a:prstGeom prst="rect">
            <a:avLst/>
          </a:prstGeom>
          <a:noFill/>
          <a:ln/>
        </p:spPr>
        <p:txBody>
          <a:bodyPr wrap="square" lIns="0" tIns="0" rIns="0" bIns="0" rtlCol="0" anchor="ctr"/>
          <a:lstStyle/>
          <a:p>
            <a:pPr indent="0" marL="0">
              <a:buNone/>
            </a:pPr>
            <a:r>
              <a:rPr lang="en-US" sz="900" dirty="0">
                <a:solidFill>
                  <a:srgbClr val="555555"/>
                </a:solidFill>
                <a:latin typeface="Calibri" pitchFamily="34" charset="0"/>
                <a:ea typeface="Calibri" pitchFamily="34" charset="-122"/>
                <a:cs typeface="Calibri" pitchFamily="34" charset="-120"/>
              </a:rPr>
              <a:t>StockPilot – Internship Presentation</a:t>
            </a:r>
            <a:endParaRPr lang="en-US" sz="900" dirty="0"/>
          </a:p>
        </p:txBody>
      </p:sp>
      <p:sp>
        <p:nvSpPr>
          <p:cNvPr id="6" name="Text 4"/>
          <p:cNvSpPr txBox="1"/>
          <p:nvPr/>
        </p:nvSpPr>
        <p:spPr>
          <a:xfrm>
            <a:off x="8229600" y="4800600"/>
            <a:ext cx="457200" cy="228600"/>
          </a:xfrm>
          <a:prstGeom prst="rect">
            <a:avLst/>
          </a:prstGeom>
          <a:noFill/>
          <a:ln/>
        </p:spPr>
        <p:txBody>
          <a:bodyPr wrap="square" lIns="0" tIns="0" rIns="0" bIns="0" rtlCol="0" anchor="ctr"/>
          <a:lstStyle/>
          <a:p>
            <a:pPr algn="r" indent="0" marL="0">
              <a:buNone/>
            </a:pPr>
            <a:r>
              <a:rPr lang="en-US" sz="900" dirty="0">
                <a:solidFill>
                  <a:srgbClr val="555555"/>
                </a:solidFill>
                <a:latin typeface="Calibri" pitchFamily="34" charset="0"/>
                <a:ea typeface="Calibri" pitchFamily="34" charset="-122"/>
                <a:cs typeface="Calibri" pitchFamily="34" charset="-120"/>
              </a:rPr>
              <a:t>8</a:t>
            </a:r>
            <a:endParaRPr lang="en-US" sz="900" dirty="0"/>
          </a:p>
        </p:txBody>
      </p:sp>
      <p:sp>
        <p:nvSpPr>
          <p:cNvPr id="7" name="Text 5"/>
          <p:cNvSpPr txBox="1"/>
          <p:nvPr/>
        </p:nvSpPr>
        <p:spPr>
          <a:xfrm>
            <a:off x="457200" y="1097280"/>
            <a:ext cx="4572000" cy="457200"/>
          </a:xfrm>
          <a:prstGeom prst="rect">
            <a:avLst/>
          </a:prstGeom>
          <a:noFill/>
          <a:ln/>
        </p:spPr>
        <p:txBody>
          <a:bodyPr wrap="square" lIns="0" tIns="0" rIns="0" bIns="0" rtlCol="0" anchor="t"/>
          <a:lstStyle/>
          <a:p>
            <a:pPr indent="0" marL="0">
              <a:buNone/>
            </a:pPr>
            <a:r>
              <a:rPr lang="en-US" sz="1300" b="1" dirty="0">
                <a:solidFill>
                  <a:srgbClr val="444444"/>
                </a:solidFill>
                <a:latin typeface="Calibri" pitchFamily="34" charset="0"/>
                <a:ea typeface="Calibri" pitchFamily="34" charset="-122"/>
                <a:cs typeface="Calibri" pitchFamily="34" charset="-120"/>
              </a:rPr>
              <a:t>The application includes an AI Demand Predictions interface intended to:</a:t>
            </a:r>
            <a:endParaRPr lang="en-US" sz="1300" dirty="0"/>
          </a:p>
        </p:txBody>
      </p:sp>
      <p:sp>
        <p:nvSpPr>
          <p:cNvPr id="8" name="Text 6"/>
          <p:cNvSpPr txBox="1"/>
          <p:nvPr/>
        </p:nvSpPr>
        <p:spPr>
          <a:xfrm>
            <a:off x="457200" y="1691640"/>
            <a:ext cx="4572000" cy="237744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1A1A1A"/>
                </a:solidFill>
                <a:latin typeface="Calibri" pitchFamily="34" charset="0"/>
                <a:ea typeface="Calibri" pitchFamily="34" charset="-122"/>
                <a:cs typeface="Calibri" pitchFamily="34" charset="-120"/>
              </a:rPr>
              <a:t>Predict demand for the following week</a:t>
            </a:r>
            <a:endParaRPr lang="en-US" sz="1300" dirty="0"/>
          </a:p>
          <a:p>
            <a:pPr marL="342900" indent="-342900">
              <a:spcAft>
                <a:spcPts val="600"/>
              </a:spcAft>
              <a:buSzPct val="100000"/>
              <a:buChar char="•"/>
            </a:pPr>
            <a:r>
              <a:rPr lang="en-US" sz="1300" dirty="0">
                <a:solidFill>
                  <a:srgbClr val="1A1A1A"/>
                </a:solidFill>
                <a:latin typeface="Calibri" pitchFamily="34" charset="0"/>
                <a:ea typeface="Calibri" pitchFamily="34" charset="-122"/>
                <a:cs typeface="Calibri" pitchFamily="34" charset="-120"/>
              </a:rPr>
              <a:t>Display current stock and predicted quantities</a:t>
            </a:r>
            <a:endParaRPr lang="en-US" sz="1300" dirty="0"/>
          </a:p>
          <a:p>
            <a:pPr marL="342900" indent="-342900">
              <a:spcAft>
                <a:spcPts val="600"/>
              </a:spcAft>
              <a:buSzPct val="100000"/>
              <a:buChar char="•"/>
            </a:pPr>
            <a:r>
              <a:rPr lang="en-US" sz="1300" dirty="0">
                <a:solidFill>
                  <a:srgbClr val="1A1A1A"/>
                </a:solidFill>
                <a:latin typeface="Calibri" pitchFamily="34" charset="0"/>
                <a:ea typeface="Calibri" pitchFamily="34" charset="-122"/>
                <a:cs typeface="Calibri" pitchFamily="34" charset="-120"/>
              </a:rPr>
              <a:t>Show risk levels to support reorder decisions</a:t>
            </a:r>
            <a:endParaRPr lang="en-US" sz="1300" dirty="0"/>
          </a:p>
          <a:p>
            <a:pPr marL="342900" indent="-342900">
              <a:spcAft>
                <a:spcPts val="600"/>
              </a:spcAft>
              <a:buSzPct val="100000"/>
              <a:buChar char="•"/>
            </a:pPr>
            <a:r>
              <a:rPr lang="en-US" sz="1300" dirty="0">
                <a:solidFill>
                  <a:srgbClr val="1A1A1A"/>
                </a:solidFill>
                <a:latin typeface="Calibri" pitchFamily="34" charset="0"/>
                <a:ea typeface="Calibri" pitchFamily="34" charset="-122"/>
                <a:cs typeface="Calibri" pitchFamily="34" charset="-120"/>
              </a:rPr>
              <a:t>Maintain prediction history</a:t>
            </a:r>
            <a:endParaRPr lang="en-US" sz="1300" dirty="0"/>
          </a:p>
          <a:p>
            <a:pPr marL="342900" indent="-342900">
              <a:spcAft>
                <a:spcPts val="600"/>
              </a:spcAft>
              <a:buSzPct val="100000"/>
              <a:buChar char="•"/>
            </a:pPr>
            <a:r>
              <a:rPr lang="en-US" sz="1300" dirty="0">
                <a:solidFill>
                  <a:srgbClr val="1A1A1A"/>
                </a:solidFill>
                <a:latin typeface="Calibri" pitchFamily="34" charset="0"/>
                <a:ea typeface="Calibri" pitchFamily="34" charset="-122"/>
                <a:cs typeface="Calibri" pitchFamily="34" charset="-120"/>
              </a:rPr>
              <a:t>Compare predicted demand with actual sales</a:t>
            </a:r>
            <a:endParaRPr lang="en-US" sz="1300" dirty="0"/>
          </a:p>
        </p:txBody>
      </p:sp>
      <p:sp>
        <p:nvSpPr>
          <p:cNvPr id="9" name="Shape 7"/>
          <p:cNvSpPr/>
          <p:nvPr/>
        </p:nvSpPr>
        <p:spPr>
          <a:xfrm>
            <a:off x="5815584" y="1060704"/>
            <a:ext cx="2548461" cy="3502152"/>
          </a:xfrm>
          <a:prstGeom prst="rect">
            <a:avLst/>
          </a:prstGeom>
          <a:solidFill>
            <a:srgbClr val="FFFFFF"/>
          </a:solidFill>
          <a:ln w="12700">
            <a:solidFill>
              <a:srgbClr val="BBBBBB"/>
            </a:solidFill>
            <a:prstDash val="solid"/>
          </a:ln>
        </p:spPr>
      </p:sp>
      <p:pic>
        <p:nvPicPr>
          <p:cNvPr id="10" name="Image 0" descr="ai.png">    </p:cNvPr>
          <p:cNvPicPr>
            <a:picLocks noChangeAspect="1"/>
          </p:cNvPicPr>
          <p:nvPr/>
        </p:nvPicPr>
        <p:blipFill>
          <a:blip r:embed="rId1"/>
          <a:stretch>
            <a:fillRect/>
          </a:stretch>
        </p:blipFill>
        <p:spPr>
          <a:xfrm>
            <a:off x="5852160" y="1097280"/>
            <a:ext cx="2475309" cy="3429000"/>
          </a:xfrm>
          <a:prstGeom prst="rect">
            <a:avLst/>
          </a:prstGeom>
        </p:spPr>
      </p:pic>
      <p:sp>
        <p:nvSpPr>
          <p:cNvPr id="11" name="Text 8"/>
          <p:cNvSpPr txBox="1"/>
          <p:nvPr/>
        </p:nvSpPr>
        <p:spPr>
          <a:xfrm>
            <a:off x="5669280" y="4599432"/>
            <a:ext cx="2841069" cy="201168"/>
          </a:xfrm>
          <a:prstGeom prst="rect">
            <a:avLst/>
          </a:prstGeom>
          <a:noFill/>
          <a:ln/>
        </p:spPr>
        <p:txBody>
          <a:bodyPr wrap="square" lIns="0" tIns="0" rIns="0" bIns="0" rtlCol="0" anchor="ctr"/>
          <a:lstStyle/>
          <a:p>
            <a:pPr algn="ctr" indent="0" marL="0">
              <a:buNone/>
            </a:pPr>
            <a:r>
              <a:rPr lang="en-US" sz="900" i="1" dirty="0">
                <a:solidFill>
                  <a:srgbClr val="555555"/>
                </a:solidFill>
                <a:latin typeface="Calibri" pitchFamily="34" charset="0"/>
                <a:ea typeface="Calibri" pitchFamily="34" charset="-122"/>
                <a:cs typeface="Calibri" pitchFamily="34" charset="-120"/>
              </a:rPr>
              <a:t>AI Demand Predictions – History view</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444444"/>
          </a:solidFill>
          <a:ln w="12700">
            <a:solidFill>
              <a:srgbClr val="444444"/>
            </a:solidFill>
            <a:prstDash val="solid"/>
          </a:ln>
        </p:spPr>
      </p:sp>
      <p:sp>
        <p:nvSpPr>
          <p:cNvPr id="3" name="Text 1"/>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600" b="1" dirty="0">
                <a:solidFill>
                  <a:srgbClr val="000000"/>
                </a:solidFill>
                <a:latin typeface="Calibri" pitchFamily="34" charset="0"/>
                <a:ea typeface="Calibri" pitchFamily="34" charset="-122"/>
                <a:cs typeface="Calibri" pitchFamily="34" charset="-120"/>
              </a:rPr>
              <a:t>System Design &amp; Architecture</a:t>
            </a:r>
            <a:endParaRPr lang="en-US" sz="2600" dirty="0"/>
          </a:p>
        </p:txBody>
      </p:sp>
      <p:sp>
        <p:nvSpPr>
          <p:cNvPr id="4" name="Shape 2"/>
          <p:cNvSpPr/>
          <p:nvPr/>
        </p:nvSpPr>
        <p:spPr>
          <a:xfrm>
            <a:off x="457200" y="841248"/>
            <a:ext cx="731520" cy="45720"/>
          </a:xfrm>
          <a:prstGeom prst="rect">
            <a:avLst/>
          </a:prstGeom>
          <a:solidFill>
            <a:srgbClr val="444444"/>
          </a:solidFill>
          <a:ln w="12700">
            <a:solidFill>
              <a:srgbClr val="444444"/>
            </a:solidFill>
            <a:prstDash val="solid"/>
          </a:ln>
        </p:spPr>
      </p:sp>
      <p:sp>
        <p:nvSpPr>
          <p:cNvPr id="5" name="Text 3"/>
          <p:cNvSpPr txBox="1"/>
          <p:nvPr/>
        </p:nvSpPr>
        <p:spPr>
          <a:xfrm>
            <a:off x="457200" y="4800600"/>
            <a:ext cx="5486400" cy="228600"/>
          </a:xfrm>
          <a:prstGeom prst="rect">
            <a:avLst/>
          </a:prstGeom>
          <a:noFill/>
          <a:ln/>
        </p:spPr>
        <p:txBody>
          <a:bodyPr wrap="square" lIns="0" tIns="0" rIns="0" bIns="0" rtlCol="0" anchor="ctr"/>
          <a:lstStyle/>
          <a:p>
            <a:pPr indent="0" marL="0">
              <a:buNone/>
            </a:pPr>
            <a:r>
              <a:rPr lang="en-US" sz="900" dirty="0">
                <a:solidFill>
                  <a:srgbClr val="555555"/>
                </a:solidFill>
                <a:latin typeface="Calibri" pitchFamily="34" charset="0"/>
                <a:ea typeface="Calibri" pitchFamily="34" charset="-122"/>
                <a:cs typeface="Calibri" pitchFamily="34" charset="-120"/>
              </a:rPr>
              <a:t>StockPilot – Internship Presentation</a:t>
            </a:r>
            <a:endParaRPr lang="en-US" sz="900" dirty="0"/>
          </a:p>
        </p:txBody>
      </p:sp>
      <p:sp>
        <p:nvSpPr>
          <p:cNvPr id="6" name="Text 4"/>
          <p:cNvSpPr txBox="1"/>
          <p:nvPr/>
        </p:nvSpPr>
        <p:spPr>
          <a:xfrm>
            <a:off x="8229600" y="4800600"/>
            <a:ext cx="457200" cy="228600"/>
          </a:xfrm>
          <a:prstGeom prst="rect">
            <a:avLst/>
          </a:prstGeom>
          <a:noFill/>
          <a:ln/>
        </p:spPr>
        <p:txBody>
          <a:bodyPr wrap="square" lIns="0" tIns="0" rIns="0" bIns="0" rtlCol="0" anchor="ctr"/>
          <a:lstStyle/>
          <a:p>
            <a:pPr algn="r" indent="0" marL="0">
              <a:buNone/>
            </a:pPr>
            <a:r>
              <a:rPr lang="en-US" sz="900" dirty="0">
                <a:solidFill>
                  <a:srgbClr val="555555"/>
                </a:solidFill>
                <a:latin typeface="Calibri" pitchFamily="34" charset="0"/>
                <a:ea typeface="Calibri" pitchFamily="34" charset="-122"/>
                <a:cs typeface="Calibri" pitchFamily="34" charset="-120"/>
              </a:rPr>
              <a:t>9</a:t>
            </a:r>
            <a:endParaRPr lang="en-US" sz="900" dirty="0"/>
          </a:p>
        </p:txBody>
      </p:sp>
      <p:sp>
        <p:nvSpPr>
          <p:cNvPr id="7" name="Text 5"/>
          <p:cNvSpPr txBox="1"/>
          <p:nvPr/>
        </p:nvSpPr>
        <p:spPr>
          <a:xfrm>
            <a:off x="457200" y="914400"/>
            <a:ext cx="8229600" cy="228600"/>
          </a:xfrm>
          <a:prstGeom prst="rect">
            <a:avLst/>
          </a:prstGeom>
          <a:noFill/>
          <a:ln/>
        </p:spPr>
        <p:txBody>
          <a:bodyPr wrap="square" lIns="0" tIns="0" rIns="0" bIns="0" rtlCol="0" anchor="ctr"/>
          <a:lstStyle/>
          <a:p>
            <a:pPr indent="0" marL="0">
              <a:buNone/>
            </a:pPr>
            <a:r>
              <a:rPr lang="en-US" sz="1100" i="1" dirty="0">
                <a:solidFill>
                  <a:srgbClr val="555555"/>
                </a:solidFill>
                <a:latin typeface="Calibri" pitchFamily="34" charset="0"/>
                <a:ea typeface="Calibri" pitchFamily="34" charset="-122"/>
                <a:cs typeface="Calibri" pitchFamily="34" charset="-120"/>
              </a:rPr>
              <a:t>Conceptual architecture of StockPilot</a:t>
            </a:r>
            <a:endParaRPr lang="en-US" sz="1100" dirty="0"/>
          </a:p>
        </p:txBody>
      </p:sp>
      <p:sp>
        <p:nvSpPr>
          <p:cNvPr id="8" name="Shape 6"/>
          <p:cNvSpPr/>
          <p:nvPr/>
        </p:nvSpPr>
        <p:spPr>
          <a:xfrm>
            <a:off x="1860804" y="1152144"/>
            <a:ext cx="5422392" cy="3639312"/>
          </a:xfrm>
          <a:prstGeom prst="rect">
            <a:avLst/>
          </a:prstGeom>
          <a:solidFill>
            <a:srgbClr val="FFFFFF"/>
          </a:solidFill>
          <a:ln w="12700">
            <a:solidFill>
              <a:srgbClr val="BBBBBB"/>
            </a:solidFill>
            <a:prstDash val="solid"/>
          </a:ln>
        </p:spPr>
      </p:sp>
      <p:pic>
        <p:nvPicPr>
          <p:cNvPr id="9" name="Image 0" descr="arch.png">    </p:cNvPr>
          <p:cNvPicPr>
            <a:picLocks noChangeAspect="1"/>
          </p:cNvPicPr>
          <p:nvPr/>
        </p:nvPicPr>
        <p:blipFill>
          <a:blip r:embed="rId1"/>
          <a:stretch>
            <a:fillRect/>
          </a:stretch>
        </p:blipFill>
        <p:spPr>
          <a:xfrm>
            <a:off x="1897380" y="1188720"/>
            <a:ext cx="5349240" cy="356616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444444"/>
          </a:solidFill>
          <a:ln w="12700">
            <a:solidFill>
              <a:srgbClr val="444444"/>
            </a:solidFill>
            <a:prstDash val="solid"/>
          </a:ln>
        </p:spPr>
      </p:sp>
      <p:sp>
        <p:nvSpPr>
          <p:cNvPr id="3" name="Text 1"/>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600" b="1" dirty="0">
                <a:solidFill>
                  <a:srgbClr val="000000"/>
                </a:solidFill>
                <a:latin typeface="Calibri" pitchFamily="34" charset="0"/>
                <a:ea typeface="Calibri" pitchFamily="34" charset="-122"/>
                <a:cs typeface="Calibri" pitchFamily="34" charset="-120"/>
              </a:rPr>
              <a:t>Development Workflow &amp; Learning Outcomes</a:t>
            </a:r>
            <a:endParaRPr lang="en-US" sz="2600" dirty="0"/>
          </a:p>
        </p:txBody>
      </p:sp>
      <p:sp>
        <p:nvSpPr>
          <p:cNvPr id="4" name="Shape 2"/>
          <p:cNvSpPr/>
          <p:nvPr/>
        </p:nvSpPr>
        <p:spPr>
          <a:xfrm>
            <a:off x="457200" y="841248"/>
            <a:ext cx="731520" cy="45720"/>
          </a:xfrm>
          <a:prstGeom prst="rect">
            <a:avLst/>
          </a:prstGeom>
          <a:solidFill>
            <a:srgbClr val="444444"/>
          </a:solidFill>
          <a:ln w="12700">
            <a:solidFill>
              <a:srgbClr val="444444"/>
            </a:solidFill>
            <a:prstDash val="solid"/>
          </a:ln>
        </p:spPr>
      </p:sp>
      <p:sp>
        <p:nvSpPr>
          <p:cNvPr id="5" name="Text 3"/>
          <p:cNvSpPr txBox="1"/>
          <p:nvPr/>
        </p:nvSpPr>
        <p:spPr>
          <a:xfrm>
            <a:off x="457200" y="4800600"/>
            <a:ext cx="5486400" cy="228600"/>
          </a:xfrm>
          <a:prstGeom prst="rect">
            <a:avLst/>
          </a:prstGeom>
          <a:noFill/>
          <a:ln/>
        </p:spPr>
        <p:txBody>
          <a:bodyPr wrap="square" lIns="0" tIns="0" rIns="0" bIns="0" rtlCol="0" anchor="ctr"/>
          <a:lstStyle/>
          <a:p>
            <a:pPr indent="0" marL="0">
              <a:buNone/>
            </a:pPr>
            <a:r>
              <a:rPr lang="en-US" sz="900" dirty="0">
                <a:solidFill>
                  <a:srgbClr val="555555"/>
                </a:solidFill>
                <a:latin typeface="Calibri" pitchFamily="34" charset="0"/>
                <a:ea typeface="Calibri" pitchFamily="34" charset="-122"/>
                <a:cs typeface="Calibri" pitchFamily="34" charset="-120"/>
              </a:rPr>
              <a:t>StockPilot – Internship Presentation</a:t>
            </a:r>
            <a:endParaRPr lang="en-US" sz="900" dirty="0"/>
          </a:p>
        </p:txBody>
      </p:sp>
      <p:sp>
        <p:nvSpPr>
          <p:cNvPr id="6" name="Text 4"/>
          <p:cNvSpPr txBox="1"/>
          <p:nvPr/>
        </p:nvSpPr>
        <p:spPr>
          <a:xfrm>
            <a:off x="8229600" y="4800600"/>
            <a:ext cx="457200" cy="228600"/>
          </a:xfrm>
          <a:prstGeom prst="rect">
            <a:avLst/>
          </a:prstGeom>
          <a:noFill/>
          <a:ln/>
        </p:spPr>
        <p:txBody>
          <a:bodyPr wrap="square" lIns="0" tIns="0" rIns="0" bIns="0" rtlCol="0" anchor="ctr"/>
          <a:lstStyle/>
          <a:p>
            <a:pPr algn="r" indent="0" marL="0">
              <a:buNone/>
            </a:pPr>
            <a:r>
              <a:rPr lang="en-US" sz="900" dirty="0">
                <a:solidFill>
                  <a:srgbClr val="555555"/>
                </a:solidFill>
                <a:latin typeface="Calibri" pitchFamily="34" charset="0"/>
                <a:ea typeface="Calibri" pitchFamily="34" charset="-122"/>
                <a:cs typeface="Calibri" pitchFamily="34" charset="-120"/>
              </a:rPr>
              <a:t>10</a:t>
            </a:r>
            <a:endParaRPr lang="en-US" sz="900" dirty="0"/>
          </a:p>
        </p:txBody>
      </p:sp>
      <p:sp>
        <p:nvSpPr>
          <p:cNvPr id="7" name="Shape 5"/>
          <p:cNvSpPr/>
          <p:nvPr/>
        </p:nvSpPr>
        <p:spPr>
          <a:xfrm>
            <a:off x="457200" y="1051560"/>
            <a:ext cx="1600200" cy="502920"/>
          </a:xfrm>
          <a:prstGeom prst="chevron">
            <a:avLst/>
          </a:prstGeom>
          <a:solidFill>
            <a:srgbClr val="000000"/>
          </a:solidFill>
          <a:ln w="12700">
            <a:solidFill>
              <a:srgbClr val="FFFFFF"/>
            </a:solidFill>
            <a:prstDash val="solid"/>
          </a:ln>
        </p:spPr>
      </p:sp>
      <p:sp>
        <p:nvSpPr>
          <p:cNvPr id="8" name="Text 6"/>
          <p:cNvSpPr txBox="1"/>
          <p:nvPr/>
        </p:nvSpPr>
        <p:spPr>
          <a:xfrm>
            <a:off x="457200" y="1051560"/>
            <a:ext cx="1600200" cy="50292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Plan</a:t>
            </a:r>
            <a:endParaRPr lang="en-US" sz="1200" dirty="0"/>
          </a:p>
        </p:txBody>
      </p:sp>
      <p:sp>
        <p:nvSpPr>
          <p:cNvPr id="9" name="Shape 7"/>
          <p:cNvSpPr/>
          <p:nvPr/>
        </p:nvSpPr>
        <p:spPr>
          <a:xfrm>
            <a:off x="2148840" y="1051560"/>
            <a:ext cx="1600200" cy="502920"/>
          </a:xfrm>
          <a:prstGeom prst="chevron">
            <a:avLst/>
          </a:prstGeom>
          <a:solidFill>
            <a:srgbClr val="444444"/>
          </a:solidFill>
          <a:ln w="12700">
            <a:solidFill>
              <a:srgbClr val="FFFFFF"/>
            </a:solidFill>
            <a:prstDash val="solid"/>
          </a:ln>
        </p:spPr>
      </p:sp>
      <p:sp>
        <p:nvSpPr>
          <p:cNvPr id="10" name="Text 8"/>
          <p:cNvSpPr txBox="1"/>
          <p:nvPr/>
        </p:nvSpPr>
        <p:spPr>
          <a:xfrm>
            <a:off x="2148840" y="1051560"/>
            <a:ext cx="1600200" cy="50292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Design</a:t>
            </a:r>
            <a:endParaRPr lang="en-US" sz="1200" dirty="0"/>
          </a:p>
        </p:txBody>
      </p:sp>
      <p:sp>
        <p:nvSpPr>
          <p:cNvPr id="11" name="Shape 9"/>
          <p:cNvSpPr/>
          <p:nvPr/>
        </p:nvSpPr>
        <p:spPr>
          <a:xfrm>
            <a:off x="3840480" y="1051560"/>
            <a:ext cx="1600200" cy="502920"/>
          </a:xfrm>
          <a:prstGeom prst="chevron">
            <a:avLst/>
          </a:prstGeom>
          <a:solidFill>
            <a:srgbClr val="000000"/>
          </a:solidFill>
          <a:ln w="12700">
            <a:solidFill>
              <a:srgbClr val="FFFFFF"/>
            </a:solidFill>
            <a:prstDash val="solid"/>
          </a:ln>
        </p:spPr>
      </p:sp>
      <p:sp>
        <p:nvSpPr>
          <p:cNvPr id="12" name="Text 10"/>
          <p:cNvSpPr txBox="1"/>
          <p:nvPr/>
        </p:nvSpPr>
        <p:spPr>
          <a:xfrm>
            <a:off x="3840480" y="1051560"/>
            <a:ext cx="1600200" cy="50292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Develop</a:t>
            </a:r>
            <a:endParaRPr lang="en-US" sz="1200" dirty="0"/>
          </a:p>
        </p:txBody>
      </p:sp>
      <p:sp>
        <p:nvSpPr>
          <p:cNvPr id="13" name="Shape 11"/>
          <p:cNvSpPr/>
          <p:nvPr/>
        </p:nvSpPr>
        <p:spPr>
          <a:xfrm>
            <a:off x="5532120" y="1051560"/>
            <a:ext cx="1600200" cy="502920"/>
          </a:xfrm>
          <a:prstGeom prst="chevron">
            <a:avLst/>
          </a:prstGeom>
          <a:solidFill>
            <a:srgbClr val="444444"/>
          </a:solidFill>
          <a:ln w="12700">
            <a:solidFill>
              <a:srgbClr val="FFFFFF"/>
            </a:solidFill>
            <a:prstDash val="solid"/>
          </a:ln>
        </p:spPr>
      </p:sp>
      <p:sp>
        <p:nvSpPr>
          <p:cNvPr id="14" name="Text 12"/>
          <p:cNvSpPr txBox="1"/>
          <p:nvPr/>
        </p:nvSpPr>
        <p:spPr>
          <a:xfrm>
            <a:off x="5532120" y="1051560"/>
            <a:ext cx="1600200" cy="50292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Test</a:t>
            </a:r>
            <a:endParaRPr lang="en-US" sz="1200" dirty="0"/>
          </a:p>
        </p:txBody>
      </p:sp>
      <p:sp>
        <p:nvSpPr>
          <p:cNvPr id="15" name="Shape 13"/>
          <p:cNvSpPr/>
          <p:nvPr/>
        </p:nvSpPr>
        <p:spPr>
          <a:xfrm>
            <a:off x="7223760" y="1051560"/>
            <a:ext cx="1600200" cy="502920"/>
          </a:xfrm>
          <a:prstGeom prst="chevron">
            <a:avLst/>
          </a:prstGeom>
          <a:solidFill>
            <a:srgbClr val="000000"/>
          </a:solidFill>
          <a:ln w="12700">
            <a:solidFill>
              <a:srgbClr val="FFFFFF"/>
            </a:solidFill>
            <a:prstDash val="solid"/>
          </a:ln>
        </p:spPr>
      </p:sp>
      <p:sp>
        <p:nvSpPr>
          <p:cNvPr id="16" name="Text 14"/>
          <p:cNvSpPr txBox="1"/>
          <p:nvPr/>
        </p:nvSpPr>
        <p:spPr>
          <a:xfrm>
            <a:off x="7223760" y="1051560"/>
            <a:ext cx="1600200" cy="50292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Review</a:t>
            </a:r>
            <a:endParaRPr lang="en-US" sz="1200" dirty="0"/>
          </a:p>
        </p:txBody>
      </p:sp>
      <p:sp>
        <p:nvSpPr>
          <p:cNvPr id="17" name="Text 15"/>
          <p:cNvSpPr txBox="1"/>
          <p:nvPr/>
        </p:nvSpPr>
        <p:spPr>
          <a:xfrm>
            <a:off x="457200" y="1783080"/>
            <a:ext cx="4937760" cy="274320"/>
          </a:xfrm>
          <a:prstGeom prst="rect">
            <a:avLst/>
          </a:prstGeom>
          <a:noFill/>
          <a:ln/>
        </p:spPr>
        <p:txBody>
          <a:bodyPr wrap="square" lIns="0" tIns="0" rIns="0" bIns="0" rtlCol="0" anchor="ctr"/>
          <a:lstStyle/>
          <a:p>
            <a:pPr indent="0" marL="0">
              <a:buNone/>
            </a:pPr>
            <a:r>
              <a:rPr lang="en-US" sz="1400" b="1" dirty="0">
                <a:solidFill>
                  <a:srgbClr val="444444"/>
                </a:solidFill>
                <a:latin typeface="Calibri" pitchFamily="34" charset="0"/>
                <a:ea typeface="Calibri" pitchFamily="34" charset="-122"/>
                <a:cs typeface="Calibri" pitchFamily="34" charset="-120"/>
              </a:rPr>
              <a:t>Key Learning Outcomes</a:t>
            </a:r>
            <a:endParaRPr lang="en-US" sz="1400" dirty="0"/>
          </a:p>
        </p:txBody>
      </p:sp>
      <p:sp>
        <p:nvSpPr>
          <p:cNvPr id="18" name="Text 16"/>
          <p:cNvSpPr txBox="1"/>
          <p:nvPr/>
        </p:nvSpPr>
        <p:spPr>
          <a:xfrm>
            <a:off x="457200" y="2103120"/>
            <a:ext cx="4937760" cy="2560320"/>
          </a:xfrm>
          <a:prstGeom prst="rect">
            <a:avLst/>
          </a:prstGeom>
          <a:noFill/>
          <a:ln/>
        </p:spPr>
        <p:txBody>
          <a:bodyPr wrap="square" lIns="0" tIns="0" rIns="0" bIns="0" rtlCol="0" anchor="t"/>
          <a:lstStyle/>
          <a:p>
            <a:pPr marL="342900" indent="-342900">
              <a:spcAft>
                <a:spcPts val="400"/>
              </a:spcAft>
              <a:buSzPct val="100000"/>
              <a:buChar char="•"/>
            </a:pPr>
            <a:r>
              <a:rPr lang="en-US" sz="1150" dirty="0">
                <a:solidFill>
                  <a:srgbClr val="1A1A1A"/>
                </a:solidFill>
                <a:latin typeface="Calibri" pitchFamily="34" charset="0"/>
                <a:ea typeface="Calibri" pitchFamily="34" charset="-122"/>
                <a:cs typeface="Calibri" pitchFamily="34" charset="-120"/>
              </a:rPr>
              <a:t>HTML, CSS, and JavaScript fundamentals</a:t>
            </a:r>
            <a:endParaRPr lang="en-US" sz="1150" dirty="0"/>
          </a:p>
          <a:p>
            <a:pPr marL="342900" indent="-342900">
              <a:spcAft>
                <a:spcPts val="400"/>
              </a:spcAft>
              <a:buSzPct val="100000"/>
              <a:buChar char="•"/>
            </a:pPr>
            <a:r>
              <a:rPr lang="en-US" sz="1150" dirty="0">
                <a:solidFill>
                  <a:srgbClr val="1A1A1A"/>
                </a:solidFill>
                <a:latin typeface="Calibri" pitchFamily="34" charset="0"/>
                <a:ea typeface="Calibri" pitchFamily="34" charset="-122"/>
                <a:cs typeface="Calibri" pitchFamily="34" charset="-120"/>
              </a:rPr>
              <a:t>Responsive design and UI/UX principles</a:t>
            </a:r>
            <a:endParaRPr lang="en-US" sz="1150" dirty="0"/>
          </a:p>
          <a:p>
            <a:pPr marL="342900" indent="-342900">
              <a:spcAft>
                <a:spcPts val="400"/>
              </a:spcAft>
              <a:buSzPct val="100000"/>
              <a:buChar char="•"/>
            </a:pPr>
            <a:r>
              <a:rPr lang="en-US" sz="1150" dirty="0">
                <a:solidFill>
                  <a:srgbClr val="1A1A1A"/>
                </a:solidFill>
                <a:latin typeface="Calibri" pitchFamily="34" charset="0"/>
                <a:ea typeface="Calibri" pitchFamily="34" charset="-122"/>
                <a:cs typeface="Calibri" pitchFamily="34" charset="-120"/>
              </a:rPr>
              <a:t>Frameworks and reusable interface components</a:t>
            </a:r>
            <a:endParaRPr lang="en-US" sz="1150" dirty="0"/>
          </a:p>
          <a:p>
            <a:pPr marL="342900" indent="-342900">
              <a:spcAft>
                <a:spcPts val="400"/>
              </a:spcAft>
              <a:buSzPct val="100000"/>
              <a:buChar char="•"/>
            </a:pPr>
            <a:r>
              <a:rPr lang="en-US" sz="1150" dirty="0">
                <a:solidFill>
                  <a:srgbClr val="1A1A1A"/>
                </a:solidFill>
                <a:latin typeface="Calibri" pitchFamily="34" charset="0"/>
                <a:ea typeface="Calibri" pitchFamily="34" charset="-122"/>
                <a:cs typeface="Calibri" pitchFamily="34" charset="-120"/>
              </a:rPr>
              <a:t>Accessibility, performance, and security awareness</a:t>
            </a:r>
            <a:endParaRPr lang="en-US" sz="1150" dirty="0"/>
          </a:p>
          <a:p>
            <a:pPr marL="342900" indent="-342900">
              <a:spcAft>
                <a:spcPts val="400"/>
              </a:spcAft>
              <a:buSzPct val="100000"/>
              <a:buChar char="•"/>
            </a:pPr>
            <a:r>
              <a:rPr lang="en-US" sz="1150" dirty="0">
                <a:solidFill>
                  <a:srgbClr val="1A1A1A"/>
                </a:solidFill>
                <a:latin typeface="Calibri" pitchFamily="34" charset="0"/>
                <a:ea typeface="Calibri" pitchFamily="34" charset="-122"/>
                <a:cs typeface="Calibri" pitchFamily="34" charset="-120"/>
              </a:rPr>
              <a:t>Introductory CMS, SEO, analytics, JDBC, and SQL</a:t>
            </a:r>
            <a:endParaRPr lang="en-US" sz="1150" dirty="0"/>
          </a:p>
          <a:p>
            <a:pPr marL="342900" indent="-342900">
              <a:spcAft>
                <a:spcPts val="400"/>
              </a:spcAft>
              <a:buSzPct val="100000"/>
              <a:buChar char="•"/>
            </a:pPr>
            <a:r>
              <a:rPr lang="en-US" sz="1150" dirty="0">
                <a:solidFill>
                  <a:srgbClr val="1A1A1A"/>
                </a:solidFill>
                <a:latin typeface="Calibri" pitchFamily="34" charset="0"/>
                <a:ea typeface="Calibri" pitchFamily="34" charset="-122"/>
                <a:cs typeface="Calibri" pitchFamily="34" charset="-120"/>
              </a:rPr>
              <a:t>How inventory workflows are organized in a web app</a:t>
            </a:r>
            <a:endParaRPr lang="en-US" sz="1150" dirty="0"/>
          </a:p>
        </p:txBody>
      </p:sp>
      <p:sp>
        <p:nvSpPr>
          <p:cNvPr id="19" name="Shape 17"/>
          <p:cNvSpPr/>
          <p:nvPr/>
        </p:nvSpPr>
        <p:spPr>
          <a:xfrm>
            <a:off x="5760720" y="1783080"/>
            <a:ext cx="2926080" cy="2651760"/>
          </a:xfrm>
          <a:prstGeom prst="roundRect">
            <a:avLst>
              <a:gd name="adj" fmla="val 3448"/>
            </a:avLst>
          </a:prstGeom>
          <a:solidFill>
            <a:srgbClr val="FFFFFF"/>
          </a:solidFill>
          <a:ln w="12700">
            <a:solidFill>
              <a:srgbClr val="BBBBBB"/>
            </a:solidFill>
            <a:prstDash val="solid"/>
          </a:ln>
        </p:spPr>
      </p:sp>
      <p:sp>
        <p:nvSpPr>
          <p:cNvPr id="20" name="Text 18"/>
          <p:cNvSpPr txBox="1"/>
          <p:nvPr/>
        </p:nvSpPr>
        <p:spPr>
          <a:xfrm>
            <a:off x="5943600" y="1874520"/>
            <a:ext cx="2560320" cy="274320"/>
          </a:xfrm>
          <a:prstGeom prst="rect">
            <a:avLst/>
          </a:prstGeom>
          <a:noFill/>
          <a:ln/>
        </p:spPr>
        <p:txBody>
          <a:bodyPr wrap="square" lIns="0" tIns="0" rIns="0" bIns="0" rtlCol="0" anchor="ctr"/>
          <a:lstStyle/>
          <a:p>
            <a:pPr indent="0" marL="0">
              <a:buNone/>
            </a:pPr>
            <a:r>
              <a:rPr lang="en-US" sz="1400" b="1" dirty="0">
                <a:solidFill>
                  <a:srgbClr val="444444"/>
                </a:solidFill>
                <a:latin typeface="Calibri" pitchFamily="34" charset="0"/>
                <a:ea typeface="Calibri" pitchFamily="34" charset="-122"/>
                <a:cs typeface="Calibri" pitchFamily="34" charset="-120"/>
              </a:rPr>
              <a:t>Future Improvements</a:t>
            </a:r>
            <a:endParaRPr lang="en-US" sz="1400" dirty="0"/>
          </a:p>
        </p:txBody>
      </p:sp>
      <p:sp>
        <p:nvSpPr>
          <p:cNvPr id="21" name="Text 19"/>
          <p:cNvSpPr txBox="1"/>
          <p:nvPr/>
        </p:nvSpPr>
        <p:spPr>
          <a:xfrm>
            <a:off x="5943600" y="2240280"/>
            <a:ext cx="2560320" cy="2103120"/>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1A1A1A"/>
                </a:solidFill>
                <a:latin typeface="Calibri" pitchFamily="34" charset="0"/>
                <a:ea typeface="Calibri" pitchFamily="34" charset="-122"/>
                <a:cs typeface="Calibri" pitchFamily="34" charset="-120"/>
              </a:rPr>
              <a:t>Validate demand predictions using more historical data</a:t>
            </a:r>
            <a:endParaRPr lang="en-US" sz="1150" dirty="0"/>
          </a:p>
          <a:p>
            <a:pPr marL="342900" indent="-342900">
              <a:spcAft>
                <a:spcPts val="600"/>
              </a:spcAft>
              <a:buSzPct val="100000"/>
              <a:buChar char="•"/>
            </a:pPr>
            <a:r>
              <a:rPr lang="en-US" sz="1150" dirty="0">
                <a:solidFill>
                  <a:srgbClr val="1A1A1A"/>
                </a:solidFill>
                <a:latin typeface="Calibri" pitchFamily="34" charset="0"/>
                <a:ea typeface="Calibri" pitchFamily="34" charset="-122"/>
                <a:cs typeface="Calibri" pitchFamily="34" charset="-120"/>
              </a:rPr>
              <a:t>Improve access control and data backup</a:t>
            </a:r>
            <a:endParaRPr lang="en-US" sz="1150" dirty="0"/>
          </a:p>
          <a:p>
            <a:pPr marL="342900" indent="-342900">
              <a:spcAft>
                <a:spcPts val="600"/>
              </a:spcAft>
              <a:buSzPct val="100000"/>
              <a:buChar char="•"/>
            </a:pPr>
            <a:r>
              <a:rPr lang="en-US" sz="1150" dirty="0">
                <a:solidFill>
                  <a:srgbClr val="1A1A1A"/>
                </a:solidFill>
                <a:latin typeface="Calibri" pitchFamily="34" charset="0"/>
                <a:ea typeface="Calibri" pitchFamily="34" charset="-122"/>
                <a:cs typeface="Calibri" pitchFamily="34" charset="-120"/>
              </a:rPr>
              <a:t>Strengthen input validation and testing</a:t>
            </a:r>
            <a:endParaRPr lang="en-US"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82880" cy="5143500"/>
          </a:xfrm>
          <a:prstGeom prst="rect">
            <a:avLst/>
          </a:prstGeom>
          <a:solidFill>
            <a:srgbClr val="444444"/>
          </a:solidFill>
          <a:ln w="12700">
            <a:solidFill>
              <a:srgbClr val="444444"/>
            </a:solidFill>
            <a:prstDash val="solid"/>
          </a:ln>
        </p:spPr>
      </p:sp>
      <p:sp>
        <p:nvSpPr>
          <p:cNvPr id="3" name="Text 1"/>
          <p:cNvSpPr txBox="1"/>
          <p:nvPr/>
        </p:nvSpPr>
        <p:spPr>
          <a:xfrm>
            <a:off x="548640" y="365760"/>
            <a:ext cx="5120640" cy="457200"/>
          </a:xfrm>
          <a:prstGeom prst="rect">
            <a:avLst/>
          </a:prstGeom>
          <a:noFill/>
          <a:ln/>
        </p:spPr>
        <p:txBody>
          <a:bodyPr wrap="square" lIns="0" tIns="0" rIns="0" bIns="0" rtlCol="0" anchor="ctr"/>
          <a:lstStyle/>
          <a:p>
            <a:pPr indent="0" marL="0">
              <a:buNone/>
            </a:pPr>
            <a:r>
              <a:rPr lang="en-US" sz="2600" b="1" dirty="0">
                <a:solidFill>
                  <a:srgbClr val="000000"/>
                </a:solidFill>
                <a:latin typeface="Calibri" pitchFamily="34" charset="0"/>
                <a:ea typeface="Calibri" pitchFamily="34" charset="-122"/>
                <a:cs typeface="Calibri" pitchFamily="34" charset="-120"/>
              </a:rPr>
              <a:t>Conclusion</a:t>
            </a:r>
            <a:endParaRPr lang="en-US" sz="2600" dirty="0"/>
          </a:p>
        </p:txBody>
      </p:sp>
      <p:sp>
        <p:nvSpPr>
          <p:cNvPr id="4" name="Text 2"/>
          <p:cNvSpPr txBox="1"/>
          <p:nvPr/>
        </p:nvSpPr>
        <p:spPr>
          <a:xfrm>
            <a:off x="548640" y="914400"/>
            <a:ext cx="7863840" cy="1828800"/>
          </a:xfrm>
          <a:prstGeom prst="rect">
            <a:avLst/>
          </a:prstGeom>
          <a:noFill/>
          <a:ln/>
        </p:spPr>
        <p:txBody>
          <a:bodyPr wrap="square" lIns="0" tIns="0" rIns="0" bIns="0" rtlCol="0" anchor="t"/>
          <a:lstStyle/>
          <a:p>
            <a:pPr indent="0" marL="0">
              <a:buNone/>
            </a:pPr>
            <a:r>
              <a:rPr lang="en-US" sz="1350" dirty="0">
                <a:solidFill>
                  <a:srgbClr val="222222"/>
                </a:solidFill>
                <a:latin typeface="Calibri" pitchFamily="34" charset="0"/>
                <a:ea typeface="Calibri" pitchFamily="34" charset="-122"/>
                <a:cs typeface="Calibri" pitchFamily="34" charset="-120"/>
              </a:rPr>
              <a:t>The one-month internship at Fantasy Solution provided practical exposure to web development concepts and professional development workflows. StockPilot shows how product management, supplier records, sales tracking, inventory control, reporting, and demand prediction can be presented through a unified web interface.</a:t>
            </a:r>
            <a:endParaRPr lang="en-US" sz="1350" dirty="0"/>
          </a:p>
        </p:txBody>
      </p:sp>
      <p:sp>
        <p:nvSpPr>
          <p:cNvPr id="5" name="Text 3"/>
          <p:cNvSpPr txBox="1"/>
          <p:nvPr/>
        </p:nvSpPr>
        <p:spPr>
          <a:xfrm>
            <a:off x="548640" y="2834640"/>
            <a:ext cx="5486400" cy="1737360"/>
          </a:xfrm>
          <a:prstGeom prst="rect">
            <a:avLst/>
          </a:prstGeom>
          <a:noFill/>
          <a:ln/>
        </p:spPr>
        <p:txBody>
          <a:bodyPr wrap="square" lIns="0" tIns="0" rIns="0" bIns="0" rtlCol="0" anchor="t"/>
          <a:lstStyle/>
          <a:p>
            <a:pPr indent="0" marL="0">
              <a:spcAft>
                <a:spcPts val="300"/>
              </a:spcAft>
              <a:buNone/>
            </a:pPr>
            <a:r>
              <a:rPr lang="en-US" sz="2200" b="1" dirty="0">
                <a:solidFill>
                  <a:srgbClr val="444444"/>
                </a:solidFill>
                <a:latin typeface="Calibri" pitchFamily="34" charset="0"/>
                <a:ea typeface="Calibri" pitchFamily="34" charset="-122"/>
                <a:cs typeface="Calibri" pitchFamily="34" charset="-120"/>
              </a:rPr>
              <a:t>Thank You</a:t>
            </a:r>
            <a:endParaRPr lang="en-US" sz="1150" dirty="0"/>
          </a:p>
          <a:p>
            <a:pPr indent="0" marL="0">
              <a:spcAft>
                <a:spcPts val="300"/>
              </a:spcAft>
              <a:buNone/>
            </a:pPr>
            <a:r>
              <a:rPr lang="en-US" sz="1150" b="1" dirty="0">
                <a:solidFill>
                  <a:srgbClr val="222222"/>
                </a:solidFill>
                <a:latin typeface="Calibri" pitchFamily="34" charset="0"/>
                <a:ea typeface="Calibri" pitchFamily="34" charset="-122"/>
                <a:cs typeface="Calibri" pitchFamily="34" charset="-120"/>
              </a:rPr>
              <a:t>Abdul Rahman M</a:t>
            </a:r>
            <a:endParaRPr lang="en-US" sz="1150" dirty="0"/>
          </a:p>
          <a:p>
            <a:pPr indent="0" marL="0">
              <a:spcAft>
                <a:spcPts val="300"/>
              </a:spcAft>
              <a:buNone/>
            </a:pPr>
            <a:r>
              <a:rPr lang="en-US" sz="1150" dirty="0">
                <a:solidFill>
                  <a:srgbClr val="222222"/>
                </a:solidFill>
                <a:latin typeface="Calibri" pitchFamily="34" charset="0"/>
                <a:ea typeface="Calibri" pitchFamily="34" charset="-122"/>
                <a:cs typeface="Calibri" pitchFamily="34" charset="-120"/>
              </a:rPr>
              <a:t>Department of Information Technology</a:t>
            </a:r>
            <a:endParaRPr lang="en-US" sz="1150" dirty="0"/>
          </a:p>
          <a:p>
            <a:pPr indent="0" marL="0">
              <a:spcAft>
                <a:spcPts val="300"/>
              </a:spcAft>
              <a:buNone/>
            </a:pPr>
            <a:r>
              <a:rPr lang="en-US" sz="1150" dirty="0">
                <a:solidFill>
                  <a:srgbClr val="222222"/>
                </a:solidFill>
                <a:latin typeface="Calibri" pitchFamily="34" charset="0"/>
                <a:ea typeface="Calibri" pitchFamily="34" charset="-122"/>
                <a:cs typeface="Calibri" pitchFamily="34" charset="-120"/>
              </a:rPr>
              <a:t>University College of Engineering, BIT Campus, Anna University, Trichy</a:t>
            </a:r>
            <a:endParaRPr lang="en-US" sz="1150" dirty="0"/>
          </a:p>
          <a:p>
            <a:pPr indent="0" marL="0">
              <a:spcAft>
                <a:spcPts val="300"/>
              </a:spcAft>
              <a:buNone/>
            </a:pPr>
            <a:r>
              <a:rPr lang="en-US" sz="1150" u="sng" dirty="0">
                <a:solidFill>
                  <a:srgbClr val="444444"/>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Project: https://ai-ims-nine.vercel.app/</a:t>
            </a:r>
            <a:endParaRPr lang="en-US" sz="1150" dirty="0"/>
          </a:p>
        </p:txBody>
      </p:sp>
      <p:sp>
        <p:nvSpPr>
          <p:cNvPr id="6" name="Text 4"/>
          <p:cNvSpPr txBox="1"/>
          <p:nvPr/>
        </p:nvSpPr>
        <p:spPr>
          <a:xfrm>
            <a:off x="8229600" y="4800600"/>
            <a:ext cx="457200" cy="228600"/>
          </a:xfrm>
          <a:prstGeom prst="rect">
            <a:avLst/>
          </a:prstGeom>
          <a:noFill/>
          <a:ln/>
        </p:spPr>
        <p:txBody>
          <a:bodyPr wrap="square" lIns="0" tIns="0" rIns="0" bIns="0" rtlCol="0" anchor="ctr"/>
          <a:lstStyle/>
          <a:p>
            <a:pPr algn="r" indent="0" marL="0">
              <a:buNone/>
            </a:pPr>
            <a:r>
              <a:rPr lang="en-US" sz="900" dirty="0">
                <a:solidFill>
                  <a:srgbClr val="444444"/>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StockPilot Internship Presentation</dc:title>
  <dc:subject>PptxGenJS Presentation</dc:subject>
  <dc:creator>Abdul Rahman M</dc:creator>
  <cp:lastModifiedBy>Abdul Rahman M</cp:lastModifiedBy>
  <cp:revision>1</cp:revision>
  <dcterms:created xsi:type="dcterms:W3CDTF">2026-10-22T04:18:26Z</dcterms:created>
  <dcterms:modified xsi:type="dcterms:W3CDTF">2026-10-22T04:18:26Z</dcterms:modified>
</cp:coreProperties>
</file>